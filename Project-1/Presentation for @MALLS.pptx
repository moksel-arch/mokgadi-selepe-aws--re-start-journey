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76" r:id="rId2"/>
    <p:sldId id="265" r:id="rId3"/>
    <p:sldId id="278" r:id="rId4"/>
    <p:sldId id="258" r:id="rId5"/>
    <p:sldId id="263" r:id="rId6"/>
    <p:sldId id="280" r:id="rId7"/>
    <p:sldId id="279" r:id="rId8"/>
    <p:sldId id="268" r:id="rId9"/>
    <p:sldId id="269" r:id="rId10"/>
    <p:sldId id="270" r:id="rId11"/>
    <p:sldId id="271" r:id="rId12"/>
    <p:sldId id="273" r:id="rId13"/>
    <p:sldId id="2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96CE70-C5B5-4892-A0A5-AA967E71B14A}">
          <p14:sldIdLst>
            <p14:sldId id="276"/>
            <p14:sldId id="265"/>
            <p14:sldId id="278"/>
            <p14:sldId id="258"/>
            <p14:sldId id="263"/>
            <p14:sldId id="280"/>
            <p14:sldId id="279"/>
            <p14:sldId id="268"/>
            <p14:sldId id="269"/>
            <p14:sldId id="270"/>
            <p14:sldId id="271"/>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39843" autoAdjust="0"/>
  </p:normalViewPr>
  <p:slideViewPr>
    <p:cSldViewPr snapToGrid="0">
      <p:cViewPr varScale="1">
        <p:scale>
          <a:sx n="32" d="100"/>
          <a:sy n="32" d="100"/>
        </p:scale>
        <p:origin x="677" y="48"/>
      </p:cViewPr>
      <p:guideLst/>
    </p:cSldViewPr>
  </p:slideViewPr>
  <p:notesTextViewPr>
    <p:cViewPr>
      <p:scale>
        <a:sx n="3" d="2"/>
        <a:sy n="3" d="2"/>
      </p:scale>
      <p:origin x="0" y="-1723"/>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5D20FD-D85D-4F63-87A8-9E552AF0EB8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03891ECB-BF31-44B1-B85B-16EBE45AE22D}">
      <dgm:prSet custT="1"/>
      <dgm:spPr>
        <a:solidFill>
          <a:schemeClr val="bg1"/>
        </a:solidFill>
      </dgm:spPr>
      <dgm:t>
        <a:bodyPr/>
        <a:lstStyle/>
        <a:p>
          <a:r>
            <a:rPr lang="en-ZA" sz="2200" u="sng" dirty="0">
              <a:solidFill>
                <a:schemeClr val="tx1"/>
              </a:solidFill>
              <a:effectLst>
                <a:outerShdw blurRad="38100" dist="38100" dir="2700000" algn="tl">
                  <a:srgbClr val="000000">
                    <a:alpha val="43137"/>
                  </a:srgbClr>
                </a:outerShdw>
              </a:effectLst>
            </a:rPr>
            <a:t>Meet our Team</a:t>
          </a:r>
          <a:r>
            <a:rPr lang="en-ZA" sz="2200" dirty="0">
              <a:solidFill>
                <a:schemeClr val="tx1"/>
              </a:solidFill>
              <a:effectLst>
                <a:outerShdw blurRad="38100" dist="38100" dir="2700000" algn="tl">
                  <a:srgbClr val="000000">
                    <a:alpha val="43137"/>
                  </a:srgbClr>
                </a:outerShdw>
              </a:effectLst>
            </a:rPr>
            <a:t>:</a:t>
          </a:r>
        </a:p>
        <a:p>
          <a:r>
            <a:rPr lang="en-ZA" sz="1600" dirty="0">
              <a:solidFill>
                <a:schemeClr val="tx1"/>
              </a:solidFill>
              <a:effectLst>
                <a:outerShdw blurRad="38100" dist="38100" dir="2700000" algn="tl">
                  <a:srgbClr val="000000">
                    <a:alpha val="43137"/>
                  </a:srgbClr>
                </a:outerShdw>
              </a:effectLst>
            </a:rPr>
            <a:t>(Blending with SA Flag)</a:t>
          </a:r>
        </a:p>
      </dgm:t>
    </dgm:pt>
    <dgm:pt modelId="{C5888D77-8515-43E6-A253-B3916FCEEC02}" type="parTrans" cxnId="{360D1DFC-B90A-49BB-B19E-55DB4AC3D741}">
      <dgm:prSet/>
      <dgm:spPr/>
      <dgm:t>
        <a:bodyPr/>
        <a:lstStyle/>
        <a:p>
          <a:endParaRPr lang="en-ZA">
            <a:effectLst>
              <a:outerShdw blurRad="38100" dist="38100" dir="2700000" algn="tl">
                <a:srgbClr val="000000">
                  <a:alpha val="43137"/>
                </a:srgbClr>
              </a:outerShdw>
            </a:effectLst>
          </a:endParaRPr>
        </a:p>
      </dgm:t>
    </dgm:pt>
    <dgm:pt modelId="{D9F3DAD9-5E99-4478-B0B2-EAA2DC450012}" type="sibTrans" cxnId="{360D1DFC-B90A-49BB-B19E-55DB4AC3D741}">
      <dgm:prSet/>
      <dgm:spPr/>
      <dgm:t>
        <a:bodyPr/>
        <a:lstStyle/>
        <a:p>
          <a:endParaRPr lang="en-ZA">
            <a:effectLst>
              <a:outerShdw blurRad="38100" dist="38100" dir="2700000" algn="tl">
                <a:srgbClr val="000000">
                  <a:alpha val="43137"/>
                </a:srgbClr>
              </a:outerShdw>
            </a:effectLst>
          </a:endParaRPr>
        </a:p>
      </dgm:t>
    </dgm:pt>
    <dgm:pt modelId="{D35E2D95-C7A4-4E39-B2CB-516BC71236A1}">
      <dgm:prSet/>
      <dgm:spPr>
        <a:solidFill>
          <a:srgbClr val="FF0000"/>
        </a:solidFill>
      </dgm:spPr>
      <dgm:t>
        <a:bodyPr/>
        <a:lstStyle/>
        <a:p>
          <a:r>
            <a:rPr lang="en-ZA" dirty="0">
              <a:effectLst>
                <a:outerShdw blurRad="38100" dist="38100" dir="2700000" algn="tl">
                  <a:srgbClr val="000000">
                    <a:alpha val="43137"/>
                  </a:srgbClr>
                </a:outerShdw>
              </a:effectLst>
            </a:rPr>
            <a:t>Mokgadi-M: Web Dev</a:t>
          </a:r>
        </a:p>
      </dgm:t>
    </dgm:pt>
    <dgm:pt modelId="{8206C994-B99B-4407-917E-73B1F5511676}" type="parTrans" cxnId="{6D96C0A6-641B-4B7B-AD3C-0BA0A95236D2}">
      <dgm:prSet/>
      <dgm:spPr/>
      <dgm:t>
        <a:bodyPr/>
        <a:lstStyle/>
        <a:p>
          <a:endParaRPr lang="en-ZA">
            <a:effectLst>
              <a:outerShdw blurRad="38100" dist="38100" dir="2700000" algn="tl">
                <a:srgbClr val="000000">
                  <a:alpha val="43137"/>
                </a:srgbClr>
              </a:outerShdw>
            </a:effectLst>
          </a:endParaRPr>
        </a:p>
      </dgm:t>
    </dgm:pt>
    <dgm:pt modelId="{B452C5C1-8344-4A4C-AE79-9FE6F2303108}" type="sibTrans" cxnId="{6D96C0A6-641B-4B7B-AD3C-0BA0A95236D2}">
      <dgm:prSet/>
      <dgm:spPr/>
      <dgm:t>
        <a:bodyPr/>
        <a:lstStyle/>
        <a:p>
          <a:endParaRPr lang="en-ZA">
            <a:effectLst>
              <a:outerShdw blurRad="38100" dist="38100" dir="2700000" algn="tl">
                <a:srgbClr val="000000">
                  <a:alpha val="43137"/>
                </a:srgbClr>
              </a:outerShdw>
            </a:effectLst>
          </a:endParaRPr>
        </a:p>
      </dgm:t>
    </dgm:pt>
    <dgm:pt modelId="{D2E0E330-A0E4-4B07-A90A-5E6F1030602F}">
      <dgm:prSet/>
      <dgm:spPr>
        <a:solidFill>
          <a:srgbClr val="0070C0"/>
        </a:solidFill>
      </dgm:spPr>
      <dgm:t>
        <a:bodyPr/>
        <a:lstStyle/>
        <a:p>
          <a:r>
            <a:rPr lang="en-ZA" dirty="0" err="1">
              <a:effectLst>
                <a:outerShdw blurRad="38100" dist="38100" dir="2700000" algn="tl">
                  <a:srgbClr val="000000">
                    <a:alpha val="43137"/>
                  </a:srgbClr>
                </a:outerShdw>
              </a:effectLst>
            </a:rPr>
            <a:t>Aytee</a:t>
          </a:r>
          <a:r>
            <a:rPr lang="en-ZA" dirty="0">
              <a:effectLst>
                <a:outerShdw blurRad="38100" dist="38100" dir="2700000" algn="tl">
                  <a:srgbClr val="000000">
                    <a:alpha val="43137"/>
                  </a:srgbClr>
                </a:outerShdw>
              </a:effectLst>
            </a:rPr>
            <a:t>-A:  Researcher &amp; Documenter</a:t>
          </a:r>
        </a:p>
      </dgm:t>
    </dgm:pt>
    <dgm:pt modelId="{E72E45BE-2C90-405C-9068-DD01E639FF20}" type="parTrans" cxnId="{277610B9-280C-4212-BAFE-FAF7C8A0823D}">
      <dgm:prSet/>
      <dgm:spPr/>
      <dgm:t>
        <a:bodyPr/>
        <a:lstStyle/>
        <a:p>
          <a:endParaRPr lang="en-ZA">
            <a:effectLst>
              <a:outerShdw blurRad="38100" dist="38100" dir="2700000" algn="tl">
                <a:srgbClr val="000000">
                  <a:alpha val="43137"/>
                </a:srgbClr>
              </a:outerShdw>
            </a:effectLst>
          </a:endParaRPr>
        </a:p>
      </dgm:t>
    </dgm:pt>
    <dgm:pt modelId="{D8C7483F-BA25-4FF2-8EB2-7EB13DAC75F5}" type="sibTrans" cxnId="{277610B9-280C-4212-BAFE-FAF7C8A0823D}">
      <dgm:prSet/>
      <dgm:spPr/>
      <dgm:t>
        <a:bodyPr/>
        <a:lstStyle/>
        <a:p>
          <a:endParaRPr lang="en-ZA">
            <a:effectLst>
              <a:outerShdw blurRad="38100" dist="38100" dir="2700000" algn="tl">
                <a:srgbClr val="000000">
                  <a:alpha val="43137"/>
                </a:srgbClr>
              </a:outerShdw>
            </a:effectLst>
          </a:endParaRPr>
        </a:p>
      </dgm:t>
    </dgm:pt>
    <dgm:pt modelId="{C2199736-3F17-4817-B83E-11A24DBB3023}">
      <dgm:prSet/>
      <dgm:spPr>
        <a:solidFill>
          <a:srgbClr val="00B050"/>
        </a:solidFill>
      </dgm:spPr>
      <dgm:t>
        <a:bodyPr/>
        <a:lstStyle/>
        <a:p>
          <a:r>
            <a:rPr lang="en-ZA" dirty="0">
              <a:effectLst>
                <a:outerShdw blurRad="38100" dist="38100" dir="2700000" algn="tl">
                  <a:srgbClr val="000000">
                    <a:alpha val="43137"/>
                  </a:srgbClr>
                </a:outerShdw>
              </a:effectLst>
            </a:rPr>
            <a:t>Lethabo-L: Web Deployer to AWS S3</a:t>
          </a:r>
        </a:p>
      </dgm:t>
    </dgm:pt>
    <dgm:pt modelId="{9CB6EED8-4058-4EF0-88BE-E92E833AED35}" type="parTrans" cxnId="{A5744E25-61EC-4952-AFDF-1929D8FB9B8D}">
      <dgm:prSet/>
      <dgm:spPr/>
      <dgm:t>
        <a:bodyPr/>
        <a:lstStyle/>
        <a:p>
          <a:endParaRPr lang="en-ZA">
            <a:effectLst>
              <a:outerShdw blurRad="38100" dist="38100" dir="2700000" algn="tl">
                <a:srgbClr val="000000">
                  <a:alpha val="43137"/>
                </a:srgbClr>
              </a:outerShdw>
            </a:effectLst>
          </a:endParaRPr>
        </a:p>
      </dgm:t>
    </dgm:pt>
    <dgm:pt modelId="{A11982B3-44CC-4A21-A8D0-A8AF76538DE0}" type="sibTrans" cxnId="{A5744E25-61EC-4952-AFDF-1929D8FB9B8D}">
      <dgm:prSet/>
      <dgm:spPr/>
      <dgm:t>
        <a:bodyPr/>
        <a:lstStyle/>
        <a:p>
          <a:endParaRPr lang="en-ZA">
            <a:effectLst>
              <a:outerShdw blurRad="38100" dist="38100" dir="2700000" algn="tl">
                <a:srgbClr val="000000">
                  <a:alpha val="43137"/>
                </a:srgbClr>
              </a:outerShdw>
            </a:effectLst>
          </a:endParaRPr>
        </a:p>
      </dgm:t>
    </dgm:pt>
    <dgm:pt modelId="{BA5ADA4A-CFAE-4294-BBD3-2C7075815A95}">
      <dgm:prSet/>
      <dgm:spPr>
        <a:solidFill>
          <a:srgbClr val="FFFF00">
            <a:alpha val="39000"/>
          </a:srgbClr>
        </a:solidFill>
      </dgm:spPr>
      <dgm:t>
        <a:bodyPr/>
        <a:lstStyle/>
        <a:p>
          <a:r>
            <a:rPr lang="en-ZA" dirty="0">
              <a:effectLst>
                <a:outerShdw blurRad="38100" dist="38100" dir="2700000" algn="tl">
                  <a:srgbClr val="000000">
                    <a:alpha val="43137"/>
                  </a:srgbClr>
                </a:outerShdw>
              </a:effectLst>
            </a:rPr>
            <a:t>Leah-L: Presenter</a:t>
          </a:r>
        </a:p>
      </dgm:t>
    </dgm:pt>
    <dgm:pt modelId="{DE7C3BB0-36A6-4956-A74C-4CC655ED66CB}" type="parTrans" cxnId="{69802749-4EF7-4D14-9767-3F9611A3D122}">
      <dgm:prSet/>
      <dgm:spPr/>
      <dgm:t>
        <a:bodyPr/>
        <a:lstStyle/>
        <a:p>
          <a:endParaRPr lang="en-ZA">
            <a:effectLst>
              <a:outerShdw blurRad="38100" dist="38100" dir="2700000" algn="tl">
                <a:srgbClr val="000000">
                  <a:alpha val="43137"/>
                </a:srgbClr>
              </a:outerShdw>
            </a:effectLst>
          </a:endParaRPr>
        </a:p>
      </dgm:t>
    </dgm:pt>
    <dgm:pt modelId="{0C73AB5B-FBC8-4931-8398-4AB8C20DED24}" type="sibTrans" cxnId="{69802749-4EF7-4D14-9767-3F9611A3D122}">
      <dgm:prSet/>
      <dgm:spPr/>
      <dgm:t>
        <a:bodyPr/>
        <a:lstStyle/>
        <a:p>
          <a:endParaRPr lang="en-ZA">
            <a:effectLst>
              <a:outerShdw blurRad="38100" dist="38100" dir="2700000" algn="tl">
                <a:srgbClr val="000000">
                  <a:alpha val="43137"/>
                </a:srgbClr>
              </a:outerShdw>
            </a:effectLst>
          </a:endParaRPr>
        </a:p>
      </dgm:t>
    </dgm:pt>
    <dgm:pt modelId="{645135D7-3D8E-47F7-837F-613F13AAD5C3}">
      <dgm:prSet/>
      <dgm:spPr>
        <a:solidFill>
          <a:schemeClr val="tx1"/>
        </a:solidFill>
      </dgm:spPr>
      <dgm:t>
        <a:bodyPr/>
        <a:lstStyle/>
        <a:p>
          <a:r>
            <a:rPr lang="en-ZA" dirty="0">
              <a:effectLst>
                <a:outerShdw blurRad="38100" dist="38100" dir="2700000" algn="tl">
                  <a:srgbClr val="000000">
                    <a:alpha val="43137"/>
                  </a:srgbClr>
                </a:outerShdw>
              </a:effectLst>
            </a:rPr>
            <a:t>Skhumbuzo-S: Web Dev</a:t>
          </a:r>
        </a:p>
      </dgm:t>
    </dgm:pt>
    <dgm:pt modelId="{9B4F2FB9-FB2F-4539-AAA5-476BC04E8BCF}" type="parTrans" cxnId="{F5F01C45-8E66-4B9A-AEB1-2303D12D57F0}">
      <dgm:prSet/>
      <dgm:spPr/>
      <dgm:t>
        <a:bodyPr/>
        <a:lstStyle/>
        <a:p>
          <a:endParaRPr lang="en-ZA">
            <a:effectLst>
              <a:outerShdw blurRad="38100" dist="38100" dir="2700000" algn="tl">
                <a:srgbClr val="000000">
                  <a:alpha val="43137"/>
                </a:srgbClr>
              </a:outerShdw>
            </a:effectLst>
          </a:endParaRPr>
        </a:p>
      </dgm:t>
    </dgm:pt>
    <dgm:pt modelId="{10F1DAC1-FCEA-4678-9494-2B7D70048DAD}" type="sibTrans" cxnId="{F5F01C45-8E66-4B9A-AEB1-2303D12D57F0}">
      <dgm:prSet/>
      <dgm:spPr/>
      <dgm:t>
        <a:bodyPr/>
        <a:lstStyle/>
        <a:p>
          <a:endParaRPr lang="en-ZA">
            <a:effectLst>
              <a:outerShdw blurRad="38100" dist="38100" dir="2700000" algn="tl">
                <a:srgbClr val="000000">
                  <a:alpha val="43137"/>
                </a:srgbClr>
              </a:outerShdw>
            </a:effectLst>
          </a:endParaRPr>
        </a:p>
      </dgm:t>
    </dgm:pt>
    <dgm:pt modelId="{FDB6D1BB-C61C-47F2-A27D-665D231A5E72}" type="pres">
      <dgm:prSet presAssocID="{4B5D20FD-D85D-4F63-87A8-9E552AF0EB85}" presName="hierChild1" presStyleCnt="0">
        <dgm:presLayoutVars>
          <dgm:orgChart val="1"/>
          <dgm:chPref val="1"/>
          <dgm:dir/>
          <dgm:animOne val="branch"/>
          <dgm:animLvl val="lvl"/>
          <dgm:resizeHandles/>
        </dgm:presLayoutVars>
      </dgm:prSet>
      <dgm:spPr/>
    </dgm:pt>
    <dgm:pt modelId="{C996F43B-26DC-4649-882B-341F24CE9145}" type="pres">
      <dgm:prSet presAssocID="{03891ECB-BF31-44B1-B85B-16EBE45AE22D}" presName="hierRoot1" presStyleCnt="0">
        <dgm:presLayoutVars>
          <dgm:hierBranch val="init"/>
        </dgm:presLayoutVars>
      </dgm:prSet>
      <dgm:spPr/>
    </dgm:pt>
    <dgm:pt modelId="{B9C2B170-AECC-4375-9F7B-6292B020E1DC}" type="pres">
      <dgm:prSet presAssocID="{03891ECB-BF31-44B1-B85B-16EBE45AE22D}" presName="rootComposite1" presStyleCnt="0"/>
      <dgm:spPr/>
    </dgm:pt>
    <dgm:pt modelId="{C886D18E-CB4A-4C29-A3C3-B914970A34B3}" type="pres">
      <dgm:prSet presAssocID="{03891ECB-BF31-44B1-B85B-16EBE45AE22D}" presName="rootText1" presStyleLbl="node0" presStyleIdx="0" presStyleCnt="1" custScaleX="159010" custScaleY="109420" custLinFactNeighborX="-1115" custLinFactNeighborY="-6692">
        <dgm:presLayoutVars>
          <dgm:chPref val="3"/>
        </dgm:presLayoutVars>
      </dgm:prSet>
      <dgm:spPr/>
    </dgm:pt>
    <dgm:pt modelId="{0F8408F9-DAD9-4AD3-A7ED-40432F455701}" type="pres">
      <dgm:prSet presAssocID="{03891ECB-BF31-44B1-B85B-16EBE45AE22D}" presName="rootConnector1" presStyleLbl="node1" presStyleIdx="0" presStyleCnt="0"/>
      <dgm:spPr/>
    </dgm:pt>
    <dgm:pt modelId="{A79BADDC-3F89-419F-81F3-BD0432CB6D7E}" type="pres">
      <dgm:prSet presAssocID="{03891ECB-BF31-44B1-B85B-16EBE45AE22D}" presName="hierChild2" presStyleCnt="0"/>
      <dgm:spPr/>
    </dgm:pt>
    <dgm:pt modelId="{46A45A5D-E425-486C-834F-FEDB0AA7E3BA}" type="pres">
      <dgm:prSet presAssocID="{8206C994-B99B-4407-917E-73B1F5511676}" presName="Name37" presStyleLbl="parChTrans1D2" presStyleIdx="0" presStyleCnt="5"/>
      <dgm:spPr/>
    </dgm:pt>
    <dgm:pt modelId="{AA156FDE-5164-45CF-B280-471684230CB6}" type="pres">
      <dgm:prSet presAssocID="{D35E2D95-C7A4-4E39-B2CB-516BC71236A1}" presName="hierRoot2" presStyleCnt="0">
        <dgm:presLayoutVars>
          <dgm:hierBranch val="init"/>
        </dgm:presLayoutVars>
      </dgm:prSet>
      <dgm:spPr/>
    </dgm:pt>
    <dgm:pt modelId="{EA31792F-5074-4497-93FE-B9C41DC557AE}" type="pres">
      <dgm:prSet presAssocID="{D35E2D95-C7A4-4E39-B2CB-516BC71236A1}" presName="rootComposite" presStyleCnt="0"/>
      <dgm:spPr/>
    </dgm:pt>
    <dgm:pt modelId="{F97A4ED0-A1CA-4701-8A2C-E1EFB697EAC9}" type="pres">
      <dgm:prSet presAssocID="{D35E2D95-C7A4-4E39-B2CB-516BC71236A1}" presName="rootText" presStyleLbl="node2" presStyleIdx="0" presStyleCnt="5">
        <dgm:presLayoutVars>
          <dgm:chPref val="3"/>
        </dgm:presLayoutVars>
      </dgm:prSet>
      <dgm:spPr/>
    </dgm:pt>
    <dgm:pt modelId="{81576656-4AC4-45BD-95F1-6EBA0F6D95A2}" type="pres">
      <dgm:prSet presAssocID="{D35E2D95-C7A4-4E39-B2CB-516BC71236A1}" presName="rootConnector" presStyleLbl="node2" presStyleIdx="0" presStyleCnt="5"/>
      <dgm:spPr/>
    </dgm:pt>
    <dgm:pt modelId="{412C1FAD-5691-4981-A21F-1107975D76F0}" type="pres">
      <dgm:prSet presAssocID="{D35E2D95-C7A4-4E39-B2CB-516BC71236A1}" presName="hierChild4" presStyleCnt="0"/>
      <dgm:spPr/>
    </dgm:pt>
    <dgm:pt modelId="{73ED8B75-D460-419D-ACF2-B98EEC40E650}" type="pres">
      <dgm:prSet presAssocID="{D35E2D95-C7A4-4E39-B2CB-516BC71236A1}" presName="hierChild5" presStyleCnt="0"/>
      <dgm:spPr/>
    </dgm:pt>
    <dgm:pt modelId="{CED73F59-D6F2-44E9-80D5-FC66018C9C70}" type="pres">
      <dgm:prSet presAssocID="{E72E45BE-2C90-405C-9068-DD01E639FF20}" presName="Name37" presStyleLbl="parChTrans1D2" presStyleIdx="1" presStyleCnt="5"/>
      <dgm:spPr/>
    </dgm:pt>
    <dgm:pt modelId="{E5C71E62-DC94-4CFD-9EFB-8A4C3A6EAD8A}" type="pres">
      <dgm:prSet presAssocID="{D2E0E330-A0E4-4B07-A90A-5E6F1030602F}" presName="hierRoot2" presStyleCnt="0">
        <dgm:presLayoutVars>
          <dgm:hierBranch val="init"/>
        </dgm:presLayoutVars>
      </dgm:prSet>
      <dgm:spPr/>
    </dgm:pt>
    <dgm:pt modelId="{34C2A52E-C543-4E3A-91E8-70882849D214}" type="pres">
      <dgm:prSet presAssocID="{D2E0E330-A0E4-4B07-A90A-5E6F1030602F}" presName="rootComposite" presStyleCnt="0"/>
      <dgm:spPr/>
    </dgm:pt>
    <dgm:pt modelId="{CEE57142-2061-4AB7-849D-589BDF8DB19B}" type="pres">
      <dgm:prSet presAssocID="{D2E0E330-A0E4-4B07-A90A-5E6F1030602F}" presName="rootText" presStyleLbl="node2" presStyleIdx="1" presStyleCnt="5">
        <dgm:presLayoutVars>
          <dgm:chPref val="3"/>
        </dgm:presLayoutVars>
      </dgm:prSet>
      <dgm:spPr/>
    </dgm:pt>
    <dgm:pt modelId="{C0825A66-86D7-4F70-B74C-11BB9C4C0614}" type="pres">
      <dgm:prSet presAssocID="{D2E0E330-A0E4-4B07-A90A-5E6F1030602F}" presName="rootConnector" presStyleLbl="node2" presStyleIdx="1" presStyleCnt="5"/>
      <dgm:spPr/>
    </dgm:pt>
    <dgm:pt modelId="{17891E13-12A5-46E1-A7F1-23A073D561F8}" type="pres">
      <dgm:prSet presAssocID="{D2E0E330-A0E4-4B07-A90A-5E6F1030602F}" presName="hierChild4" presStyleCnt="0"/>
      <dgm:spPr/>
    </dgm:pt>
    <dgm:pt modelId="{ABC391AC-3BEA-4E7D-9A47-ECE3532B7699}" type="pres">
      <dgm:prSet presAssocID="{D2E0E330-A0E4-4B07-A90A-5E6F1030602F}" presName="hierChild5" presStyleCnt="0"/>
      <dgm:spPr/>
    </dgm:pt>
    <dgm:pt modelId="{1473131A-F1A1-4B96-A688-329E2C988924}" type="pres">
      <dgm:prSet presAssocID="{9CB6EED8-4058-4EF0-88BE-E92E833AED35}" presName="Name37" presStyleLbl="parChTrans1D2" presStyleIdx="2" presStyleCnt="5"/>
      <dgm:spPr/>
    </dgm:pt>
    <dgm:pt modelId="{2F33D003-37CF-4E69-A456-C26EBA94B163}" type="pres">
      <dgm:prSet presAssocID="{C2199736-3F17-4817-B83E-11A24DBB3023}" presName="hierRoot2" presStyleCnt="0">
        <dgm:presLayoutVars>
          <dgm:hierBranch val="init"/>
        </dgm:presLayoutVars>
      </dgm:prSet>
      <dgm:spPr/>
    </dgm:pt>
    <dgm:pt modelId="{BB16F391-5837-4F01-99DC-6E04ABD539B9}" type="pres">
      <dgm:prSet presAssocID="{C2199736-3F17-4817-B83E-11A24DBB3023}" presName="rootComposite" presStyleCnt="0"/>
      <dgm:spPr/>
    </dgm:pt>
    <dgm:pt modelId="{6EE8C26C-8079-466F-AE9D-A957C1E1BEC3}" type="pres">
      <dgm:prSet presAssocID="{C2199736-3F17-4817-B83E-11A24DBB3023}" presName="rootText" presStyleLbl="node2" presStyleIdx="2" presStyleCnt="5">
        <dgm:presLayoutVars>
          <dgm:chPref val="3"/>
        </dgm:presLayoutVars>
      </dgm:prSet>
      <dgm:spPr/>
    </dgm:pt>
    <dgm:pt modelId="{4D733CE9-522F-4385-9F13-2510999674CE}" type="pres">
      <dgm:prSet presAssocID="{C2199736-3F17-4817-B83E-11A24DBB3023}" presName="rootConnector" presStyleLbl="node2" presStyleIdx="2" presStyleCnt="5"/>
      <dgm:spPr/>
    </dgm:pt>
    <dgm:pt modelId="{A0EE3165-9340-4447-BF88-556A1A3CFAA6}" type="pres">
      <dgm:prSet presAssocID="{C2199736-3F17-4817-B83E-11A24DBB3023}" presName="hierChild4" presStyleCnt="0"/>
      <dgm:spPr/>
    </dgm:pt>
    <dgm:pt modelId="{189A7E40-1C2A-471E-B6F2-53206D9B4AB1}" type="pres">
      <dgm:prSet presAssocID="{C2199736-3F17-4817-B83E-11A24DBB3023}" presName="hierChild5" presStyleCnt="0"/>
      <dgm:spPr/>
    </dgm:pt>
    <dgm:pt modelId="{21C5353E-3DBA-47A6-B120-341276E94B88}" type="pres">
      <dgm:prSet presAssocID="{DE7C3BB0-36A6-4956-A74C-4CC655ED66CB}" presName="Name37" presStyleLbl="parChTrans1D2" presStyleIdx="3" presStyleCnt="5"/>
      <dgm:spPr/>
    </dgm:pt>
    <dgm:pt modelId="{AA707BF7-0A0D-4AA8-9F1C-35D6AE869272}" type="pres">
      <dgm:prSet presAssocID="{BA5ADA4A-CFAE-4294-BBD3-2C7075815A95}" presName="hierRoot2" presStyleCnt="0">
        <dgm:presLayoutVars>
          <dgm:hierBranch val="init"/>
        </dgm:presLayoutVars>
      </dgm:prSet>
      <dgm:spPr/>
    </dgm:pt>
    <dgm:pt modelId="{72014E87-D4E0-424C-B0CE-E9CF778C5EC2}" type="pres">
      <dgm:prSet presAssocID="{BA5ADA4A-CFAE-4294-BBD3-2C7075815A95}" presName="rootComposite" presStyleCnt="0"/>
      <dgm:spPr/>
    </dgm:pt>
    <dgm:pt modelId="{A98F9F32-8699-4921-AF90-AE125A6189FC}" type="pres">
      <dgm:prSet presAssocID="{BA5ADA4A-CFAE-4294-BBD3-2C7075815A95}" presName="rootText" presStyleLbl="node2" presStyleIdx="3" presStyleCnt="5">
        <dgm:presLayoutVars>
          <dgm:chPref val="3"/>
        </dgm:presLayoutVars>
      </dgm:prSet>
      <dgm:spPr/>
    </dgm:pt>
    <dgm:pt modelId="{E023B6F5-166C-4F19-B24B-06A0051DF563}" type="pres">
      <dgm:prSet presAssocID="{BA5ADA4A-CFAE-4294-BBD3-2C7075815A95}" presName="rootConnector" presStyleLbl="node2" presStyleIdx="3" presStyleCnt="5"/>
      <dgm:spPr/>
    </dgm:pt>
    <dgm:pt modelId="{F0C1401F-0AA4-4363-8C6A-17890AD8D5B5}" type="pres">
      <dgm:prSet presAssocID="{BA5ADA4A-CFAE-4294-BBD3-2C7075815A95}" presName="hierChild4" presStyleCnt="0"/>
      <dgm:spPr/>
    </dgm:pt>
    <dgm:pt modelId="{6F5B746E-B443-4A8E-8CE9-C1DC6709DE8B}" type="pres">
      <dgm:prSet presAssocID="{BA5ADA4A-CFAE-4294-BBD3-2C7075815A95}" presName="hierChild5" presStyleCnt="0"/>
      <dgm:spPr/>
    </dgm:pt>
    <dgm:pt modelId="{4AB7DE1C-397C-44A0-807E-25927A8AD8D4}" type="pres">
      <dgm:prSet presAssocID="{9B4F2FB9-FB2F-4539-AAA5-476BC04E8BCF}" presName="Name37" presStyleLbl="parChTrans1D2" presStyleIdx="4" presStyleCnt="5"/>
      <dgm:spPr/>
    </dgm:pt>
    <dgm:pt modelId="{A62AAE44-AE76-43AE-A0D8-39D3B1100DA1}" type="pres">
      <dgm:prSet presAssocID="{645135D7-3D8E-47F7-837F-613F13AAD5C3}" presName="hierRoot2" presStyleCnt="0">
        <dgm:presLayoutVars>
          <dgm:hierBranch val="init"/>
        </dgm:presLayoutVars>
      </dgm:prSet>
      <dgm:spPr/>
    </dgm:pt>
    <dgm:pt modelId="{2E7829F1-CB2C-4944-92A2-B9504747AC6D}" type="pres">
      <dgm:prSet presAssocID="{645135D7-3D8E-47F7-837F-613F13AAD5C3}" presName="rootComposite" presStyleCnt="0"/>
      <dgm:spPr/>
    </dgm:pt>
    <dgm:pt modelId="{05A68EBA-9D0E-498B-AA9A-1FB0821E0824}" type="pres">
      <dgm:prSet presAssocID="{645135D7-3D8E-47F7-837F-613F13AAD5C3}" presName="rootText" presStyleLbl="node2" presStyleIdx="4" presStyleCnt="5">
        <dgm:presLayoutVars>
          <dgm:chPref val="3"/>
        </dgm:presLayoutVars>
      </dgm:prSet>
      <dgm:spPr/>
    </dgm:pt>
    <dgm:pt modelId="{BA7BE31F-1724-4EBF-B87A-667C4094AA31}" type="pres">
      <dgm:prSet presAssocID="{645135D7-3D8E-47F7-837F-613F13AAD5C3}" presName="rootConnector" presStyleLbl="node2" presStyleIdx="4" presStyleCnt="5"/>
      <dgm:spPr/>
    </dgm:pt>
    <dgm:pt modelId="{87EE2F02-627F-4461-9A2C-07AACDD92812}" type="pres">
      <dgm:prSet presAssocID="{645135D7-3D8E-47F7-837F-613F13AAD5C3}" presName="hierChild4" presStyleCnt="0"/>
      <dgm:spPr/>
    </dgm:pt>
    <dgm:pt modelId="{0DF55559-08FB-414F-9996-01CEE0B6E31A}" type="pres">
      <dgm:prSet presAssocID="{645135D7-3D8E-47F7-837F-613F13AAD5C3}" presName="hierChild5" presStyleCnt="0"/>
      <dgm:spPr/>
    </dgm:pt>
    <dgm:pt modelId="{D1B09EDD-C244-4A4F-86F0-9F54B1F6A2DE}" type="pres">
      <dgm:prSet presAssocID="{03891ECB-BF31-44B1-B85B-16EBE45AE22D}" presName="hierChild3" presStyleCnt="0"/>
      <dgm:spPr/>
    </dgm:pt>
  </dgm:ptLst>
  <dgm:cxnLst>
    <dgm:cxn modelId="{D0413D11-FDB5-453E-8E64-7331671334B7}" type="presOf" srcId="{D35E2D95-C7A4-4E39-B2CB-516BC71236A1}" destId="{F97A4ED0-A1CA-4701-8A2C-E1EFB697EAC9}" srcOrd="0" destOrd="0" presId="urn:microsoft.com/office/officeart/2005/8/layout/orgChart1"/>
    <dgm:cxn modelId="{9CCC8412-D528-45FE-8ACC-14FF633BA903}" type="presOf" srcId="{645135D7-3D8E-47F7-837F-613F13AAD5C3}" destId="{BA7BE31F-1724-4EBF-B87A-667C4094AA31}" srcOrd="1" destOrd="0" presId="urn:microsoft.com/office/officeart/2005/8/layout/orgChart1"/>
    <dgm:cxn modelId="{2C0DE91C-15A9-435C-B676-710CE961B38D}" type="presOf" srcId="{D2E0E330-A0E4-4B07-A90A-5E6F1030602F}" destId="{C0825A66-86D7-4F70-B74C-11BB9C4C0614}" srcOrd="1" destOrd="0" presId="urn:microsoft.com/office/officeart/2005/8/layout/orgChart1"/>
    <dgm:cxn modelId="{A5744E25-61EC-4952-AFDF-1929D8FB9B8D}" srcId="{03891ECB-BF31-44B1-B85B-16EBE45AE22D}" destId="{C2199736-3F17-4817-B83E-11A24DBB3023}" srcOrd="2" destOrd="0" parTransId="{9CB6EED8-4058-4EF0-88BE-E92E833AED35}" sibTransId="{A11982B3-44CC-4A21-A8D0-A8AF76538DE0}"/>
    <dgm:cxn modelId="{CFD8ED27-2333-40EB-A163-E8938AAF216A}" type="presOf" srcId="{9CB6EED8-4058-4EF0-88BE-E92E833AED35}" destId="{1473131A-F1A1-4B96-A688-329E2C988924}" srcOrd="0" destOrd="0" presId="urn:microsoft.com/office/officeart/2005/8/layout/orgChart1"/>
    <dgm:cxn modelId="{9B57E52C-A495-4CC5-8729-1C35D112F461}" type="presOf" srcId="{9B4F2FB9-FB2F-4539-AAA5-476BC04E8BCF}" destId="{4AB7DE1C-397C-44A0-807E-25927A8AD8D4}" srcOrd="0" destOrd="0" presId="urn:microsoft.com/office/officeart/2005/8/layout/orgChart1"/>
    <dgm:cxn modelId="{DB41552F-A9A1-480E-BD3C-44314DBCBECA}" type="presOf" srcId="{D35E2D95-C7A4-4E39-B2CB-516BC71236A1}" destId="{81576656-4AC4-45BD-95F1-6EBA0F6D95A2}" srcOrd="1" destOrd="0" presId="urn:microsoft.com/office/officeart/2005/8/layout/orgChart1"/>
    <dgm:cxn modelId="{876C1760-942C-4D1E-BB3F-2F2A9268CD48}" type="presOf" srcId="{C2199736-3F17-4817-B83E-11A24DBB3023}" destId="{4D733CE9-522F-4385-9F13-2510999674CE}" srcOrd="1" destOrd="0" presId="urn:microsoft.com/office/officeart/2005/8/layout/orgChart1"/>
    <dgm:cxn modelId="{7B36B743-C7C0-4385-B1AE-80DF5C9E0790}" type="presOf" srcId="{645135D7-3D8E-47F7-837F-613F13AAD5C3}" destId="{05A68EBA-9D0E-498B-AA9A-1FB0821E0824}" srcOrd="0" destOrd="0" presId="urn:microsoft.com/office/officeart/2005/8/layout/orgChart1"/>
    <dgm:cxn modelId="{F5F01C45-8E66-4B9A-AEB1-2303D12D57F0}" srcId="{03891ECB-BF31-44B1-B85B-16EBE45AE22D}" destId="{645135D7-3D8E-47F7-837F-613F13AAD5C3}" srcOrd="4" destOrd="0" parTransId="{9B4F2FB9-FB2F-4539-AAA5-476BC04E8BCF}" sibTransId="{10F1DAC1-FCEA-4678-9494-2B7D70048DAD}"/>
    <dgm:cxn modelId="{69802749-4EF7-4D14-9767-3F9611A3D122}" srcId="{03891ECB-BF31-44B1-B85B-16EBE45AE22D}" destId="{BA5ADA4A-CFAE-4294-BBD3-2C7075815A95}" srcOrd="3" destOrd="0" parTransId="{DE7C3BB0-36A6-4956-A74C-4CC655ED66CB}" sibTransId="{0C73AB5B-FBC8-4931-8398-4AB8C20DED24}"/>
    <dgm:cxn modelId="{8EE8C550-CFE3-4860-B459-0716C2E10B16}" type="presOf" srcId="{BA5ADA4A-CFAE-4294-BBD3-2C7075815A95}" destId="{E023B6F5-166C-4F19-B24B-06A0051DF563}" srcOrd="1" destOrd="0" presId="urn:microsoft.com/office/officeart/2005/8/layout/orgChart1"/>
    <dgm:cxn modelId="{A2A56B78-9777-462E-99ED-2CD38B464B99}" type="presOf" srcId="{D2E0E330-A0E4-4B07-A90A-5E6F1030602F}" destId="{CEE57142-2061-4AB7-849D-589BDF8DB19B}" srcOrd="0" destOrd="0" presId="urn:microsoft.com/office/officeart/2005/8/layout/orgChart1"/>
    <dgm:cxn modelId="{8CF8D059-9C1C-48F3-988D-ACE51647B832}" type="presOf" srcId="{E72E45BE-2C90-405C-9068-DD01E639FF20}" destId="{CED73F59-D6F2-44E9-80D5-FC66018C9C70}" srcOrd="0" destOrd="0" presId="urn:microsoft.com/office/officeart/2005/8/layout/orgChart1"/>
    <dgm:cxn modelId="{06C3DD96-6A01-433D-A72D-D58118DD39A8}" type="presOf" srcId="{C2199736-3F17-4817-B83E-11A24DBB3023}" destId="{6EE8C26C-8079-466F-AE9D-A957C1E1BEC3}" srcOrd="0" destOrd="0" presId="urn:microsoft.com/office/officeart/2005/8/layout/orgChart1"/>
    <dgm:cxn modelId="{521782A0-BC53-40F9-942D-FA051C0E0EAA}" type="presOf" srcId="{03891ECB-BF31-44B1-B85B-16EBE45AE22D}" destId="{C886D18E-CB4A-4C29-A3C3-B914970A34B3}" srcOrd="0" destOrd="0" presId="urn:microsoft.com/office/officeart/2005/8/layout/orgChart1"/>
    <dgm:cxn modelId="{6D96C0A6-641B-4B7B-AD3C-0BA0A95236D2}" srcId="{03891ECB-BF31-44B1-B85B-16EBE45AE22D}" destId="{D35E2D95-C7A4-4E39-B2CB-516BC71236A1}" srcOrd="0" destOrd="0" parTransId="{8206C994-B99B-4407-917E-73B1F5511676}" sibTransId="{B452C5C1-8344-4A4C-AE79-9FE6F2303108}"/>
    <dgm:cxn modelId="{277610B9-280C-4212-BAFE-FAF7C8A0823D}" srcId="{03891ECB-BF31-44B1-B85B-16EBE45AE22D}" destId="{D2E0E330-A0E4-4B07-A90A-5E6F1030602F}" srcOrd="1" destOrd="0" parTransId="{E72E45BE-2C90-405C-9068-DD01E639FF20}" sibTransId="{D8C7483F-BA25-4FF2-8EB2-7EB13DAC75F5}"/>
    <dgm:cxn modelId="{15030CBB-AF4B-4AAB-A5EA-295FE94F9951}" type="presOf" srcId="{4B5D20FD-D85D-4F63-87A8-9E552AF0EB85}" destId="{FDB6D1BB-C61C-47F2-A27D-665D231A5E72}" srcOrd="0" destOrd="0" presId="urn:microsoft.com/office/officeart/2005/8/layout/orgChart1"/>
    <dgm:cxn modelId="{83A2E1BC-369B-4B32-BD1B-96773018D2CB}" type="presOf" srcId="{BA5ADA4A-CFAE-4294-BBD3-2C7075815A95}" destId="{A98F9F32-8699-4921-AF90-AE125A6189FC}" srcOrd="0" destOrd="0" presId="urn:microsoft.com/office/officeart/2005/8/layout/orgChart1"/>
    <dgm:cxn modelId="{CE1DF8C1-E243-4791-8A2D-E620E72FF518}" type="presOf" srcId="{8206C994-B99B-4407-917E-73B1F5511676}" destId="{46A45A5D-E425-486C-834F-FEDB0AA7E3BA}" srcOrd="0" destOrd="0" presId="urn:microsoft.com/office/officeart/2005/8/layout/orgChart1"/>
    <dgm:cxn modelId="{067728D7-EC6E-4FE1-A7D6-83C89692154E}" type="presOf" srcId="{03891ECB-BF31-44B1-B85B-16EBE45AE22D}" destId="{0F8408F9-DAD9-4AD3-A7ED-40432F455701}" srcOrd="1" destOrd="0" presId="urn:microsoft.com/office/officeart/2005/8/layout/orgChart1"/>
    <dgm:cxn modelId="{59C4C5DC-57FF-4403-B8C9-550C2E460F05}" type="presOf" srcId="{DE7C3BB0-36A6-4956-A74C-4CC655ED66CB}" destId="{21C5353E-3DBA-47A6-B120-341276E94B88}" srcOrd="0" destOrd="0" presId="urn:microsoft.com/office/officeart/2005/8/layout/orgChart1"/>
    <dgm:cxn modelId="{360D1DFC-B90A-49BB-B19E-55DB4AC3D741}" srcId="{4B5D20FD-D85D-4F63-87A8-9E552AF0EB85}" destId="{03891ECB-BF31-44B1-B85B-16EBE45AE22D}" srcOrd="0" destOrd="0" parTransId="{C5888D77-8515-43E6-A253-B3916FCEEC02}" sibTransId="{D9F3DAD9-5E99-4478-B0B2-EAA2DC450012}"/>
    <dgm:cxn modelId="{520048F1-57F4-49A5-BC27-3999ADD5E6EB}" type="presParOf" srcId="{FDB6D1BB-C61C-47F2-A27D-665D231A5E72}" destId="{C996F43B-26DC-4649-882B-341F24CE9145}" srcOrd="0" destOrd="0" presId="urn:microsoft.com/office/officeart/2005/8/layout/orgChart1"/>
    <dgm:cxn modelId="{ABBCF73F-D3E9-44E0-84AF-C82CBAEC49EA}" type="presParOf" srcId="{C996F43B-26DC-4649-882B-341F24CE9145}" destId="{B9C2B170-AECC-4375-9F7B-6292B020E1DC}" srcOrd="0" destOrd="0" presId="urn:microsoft.com/office/officeart/2005/8/layout/orgChart1"/>
    <dgm:cxn modelId="{60F1AF8D-7A63-4C2C-959A-9AC4B4F04884}" type="presParOf" srcId="{B9C2B170-AECC-4375-9F7B-6292B020E1DC}" destId="{C886D18E-CB4A-4C29-A3C3-B914970A34B3}" srcOrd="0" destOrd="0" presId="urn:microsoft.com/office/officeart/2005/8/layout/orgChart1"/>
    <dgm:cxn modelId="{4AAE39F3-9115-4857-A4FC-F851249129B9}" type="presParOf" srcId="{B9C2B170-AECC-4375-9F7B-6292B020E1DC}" destId="{0F8408F9-DAD9-4AD3-A7ED-40432F455701}" srcOrd="1" destOrd="0" presId="urn:microsoft.com/office/officeart/2005/8/layout/orgChart1"/>
    <dgm:cxn modelId="{DFF3092A-85CA-4F99-AA7F-8D13ECCE848F}" type="presParOf" srcId="{C996F43B-26DC-4649-882B-341F24CE9145}" destId="{A79BADDC-3F89-419F-81F3-BD0432CB6D7E}" srcOrd="1" destOrd="0" presId="urn:microsoft.com/office/officeart/2005/8/layout/orgChart1"/>
    <dgm:cxn modelId="{5E00B4DE-0C85-412C-88F3-37F6335CE7F0}" type="presParOf" srcId="{A79BADDC-3F89-419F-81F3-BD0432CB6D7E}" destId="{46A45A5D-E425-486C-834F-FEDB0AA7E3BA}" srcOrd="0" destOrd="0" presId="urn:microsoft.com/office/officeart/2005/8/layout/orgChart1"/>
    <dgm:cxn modelId="{85A52559-2364-4B93-BDEC-DAF71595FBCC}" type="presParOf" srcId="{A79BADDC-3F89-419F-81F3-BD0432CB6D7E}" destId="{AA156FDE-5164-45CF-B280-471684230CB6}" srcOrd="1" destOrd="0" presId="urn:microsoft.com/office/officeart/2005/8/layout/orgChart1"/>
    <dgm:cxn modelId="{B2755BA3-1045-4144-BEA0-0CA3280EE2F0}" type="presParOf" srcId="{AA156FDE-5164-45CF-B280-471684230CB6}" destId="{EA31792F-5074-4497-93FE-B9C41DC557AE}" srcOrd="0" destOrd="0" presId="urn:microsoft.com/office/officeart/2005/8/layout/orgChart1"/>
    <dgm:cxn modelId="{2DBF11E1-CB59-4B28-8AF4-B588EE695E95}" type="presParOf" srcId="{EA31792F-5074-4497-93FE-B9C41DC557AE}" destId="{F97A4ED0-A1CA-4701-8A2C-E1EFB697EAC9}" srcOrd="0" destOrd="0" presId="urn:microsoft.com/office/officeart/2005/8/layout/orgChart1"/>
    <dgm:cxn modelId="{389F19A7-05F8-4B80-9E24-DE631FA742F9}" type="presParOf" srcId="{EA31792F-5074-4497-93FE-B9C41DC557AE}" destId="{81576656-4AC4-45BD-95F1-6EBA0F6D95A2}" srcOrd="1" destOrd="0" presId="urn:microsoft.com/office/officeart/2005/8/layout/orgChart1"/>
    <dgm:cxn modelId="{1CCA016D-42C9-4750-9ACA-088187A33986}" type="presParOf" srcId="{AA156FDE-5164-45CF-B280-471684230CB6}" destId="{412C1FAD-5691-4981-A21F-1107975D76F0}" srcOrd="1" destOrd="0" presId="urn:microsoft.com/office/officeart/2005/8/layout/orgChart1"/>
    <dgm:cxn modelId="{BFD44FD3-66E7-403B-958F-2E8AAF07D7CF}" type="presParOf" srcId="{AA156FDE-5164-45CF-B280-471684230CB6}" destId="{73ED8B75-D460-419D-ACF2-B98EEC40E650}" srcOrd="2" destOrd="0" presId="urn:microsoft.com/office/officeart/2005/8/layout/orgChart1"/>
    <dgm:cxn modelId="{D58902EB-F9C3-4635-A60B-8490E2460444}" type="presParOf" srcId="{A79BADDC-3F89-419F-81F3-BD0432CB6D7E}" destId="{CED73F59-D6F2-44E9-80D5-FC66018C9C70}" srcOrd="2" destOrd="0" presId="urn:microsoft.com/office/officeart/2005/8/layout/orgChart1"/>
    <dgm:cxn modelId="{85781DED-F5A8-4B1F-9AA5-9E75FE4E9E29}" type="presParOf" srcId="{A79BADDC-3F89-419F-81F3-BD0432CB6D7E}" destId="{E5C71E62-DC94-4CFD-9EFB-8A4C3A6EAD8A}" srcOrd="3" destOrd="0" presId="urn:microsoft.com/office/officeart/2005/8/layout/orgChart1"/>
    <dgm:cxn modelId="{D12701EF-6E9D-4D43-82AE-B5BBA6110613}" type="presParOf" srcId="{E5C71E62-DC94-4CFD-9EFB-8A4C3A6EAD8A}" destId="{34C2A52E-C543-4E3A-91E8-70882849D214}" srcOrd="0" destOrd="0" presId="urn:microsoft.com/office/officeart/2005/8/layout/orgChart1"/>
    <dgm:cxn modelId="{986677AE-85DD-4A7B-89C4-1550EAFF5BC8}" type="presParOf" srcId="{34C2A52E-C543-4E3A-91E8-70882849D214}" destId="{CEE57142-2061-4AB7-849D-589BDF8DB19B}" srcOrd="0" destOrd="0" presId="urn:microsoft.com/office/officeart/2005/8/layout/orgChart1"/>
    <dgm:cxn modelId="{E97C2FCD-F238-405D-A0EC-1E2E97119B23}" type="presParOf" srcId="{34C2A52E-C543-4E3A-91E8-70882849D214}" destId="{C0825A66-86D7-4F70-B74C-11BB9C4C0614}" srcOrd="1" destOrd="0" presId="urn:microsoft.com/office/officeart/2005/8/layout/orgChart1"/>
    <dgm:cxn modelId="{62D5D008-E3DE-493D-AA64-E8C7778250C8}" type="presParOf" srcId="{E5C71E62-DC94-4CFD-9EFB-8A4C3A6EAD8A}" destId="{17891E13-12A5-46E1-A7F1-23A073D561F8}" srcOrd="1" destOrd="0" presId="urn:microsoft.com/office/officeart/2005/8/layout/orgChart1"/>
    <dgm:cxn modelId="{874BA05D-A263-46DC-B729-537C8AAA0F7C}" type="presParOf" srcId="{E5C71E62-DC94-4CFD-9EFB-8A4C3A6EAD8A}" destId="{ABC391AC-3BEA-4E7D-9A47-ECE3532B7699}" srcOrd="2" destOrd="0" presId="urn:microsoft.com/office/officeart/2005/8/layout/orgChart1"/>
    <dgm:cxn modelId="{8AA4F1FA-EA30-4C2D-8AE2-604EF1BFFB37}" type="presParOf" srcId="{A79BADDC-3F89-419F-81F3-BD0432CB6D7E}" destId="{1473131A-F1A1-4B96-A688-329E2C988924}" srcOrd="4" destOrd="0" presId="urn:microsoft.com/office/officeart/2005/8/layout/orgChart1"/>
    <dgm:cxn modelId="{D7976C50-8DEF-4FD8-BD32-42B634A5E5AB}" type="presParOf" srcId="{A79BADDC-3F89-419F-81F3-BD0432CB6D7E}" destId="{2F33D003-37CF-4E69-A456-C26EBA94B163}" srcOrd="5" destOrd="0" presId="urn:microsoft.com/office/officeart/2005/8/layout/orgChart1"/>
    <dgm:cxn modelId="{58BCF318-32CE-43F1-9135-20DC7C74365A}" type="presParOf" srcId="{2F33D003-37CF-4E69-A456-C26EBA94B163}" destId="{BB16F391-5837-4F01-99DC-6E04ABD539B9}" srcOrd="0" destOrd="0" presId="urn:microsoft.com/office/officeart/2005/8/layout/orgChart1"/>
    <dgm:cxn modelId="{4F6FFB21-3D7B-426A-AB6D-4F952CC710EC}" type="presParOf" srcId="{BB16F391-5837-4F01-99DC-6E04ABD539B9}" destId="{6EE8C26C-8079-466F-AE9D-A957C1E1BEC3}" srcOrd="0" destOrd="0" presId="urn:microsoft.com/office/officeart/2005/8/layout/orgChart1"/>
    <dgm:cxn modelId="{2B080EBB-7843-4643-AE4E-691E84634893}" type="presParOf" srcId="{BB16F391-5837-4F01-99DC-6E04ABD539B9}" destId="{4D733CE9-522F-4385-9F13-2510999674CE}" srcOrd="1" destOrd="0" presId="urn:microsoft.com/office/officeart/2005/8/layout/orgChart1"/>
    <dgm:cxn modelId="{5F624F1E-BFC6-4D06-A9A6-D11F078F685F}" type="presParOf" srcId="{2F33D003-37CF-4E69-A456-C26EBA94B163}" destId="{A0EE3165-9340-4447-BF88-556A1A3CFAA6}" srcOrd="1" destOrd="0" presId="urn:microsoft.com/office/officeart/2005/8/layout/orgChart1"/>
    <dgm:cxn modelId="{5CF06BA0-DE94-40BA-BD94-D53EACDD6905}" type="presParOf" srcId="{2F33D003-37CF-4E69-A456-C26EBA94B163}" destId="{189A7E40-1C2A-471E-B6F2-53206D9B4AB1}" srcOrd="2" destOrd="0" presId="urn:microsoft.com/office/officeart/2005/8/layout/orgChart1"/>
    <dgm:cxn modelId="{31F17308-B064-4027-9BAA-462AAD5F68D6}" type="presParOf" srcId="{A79BADDC-3F89-419F-81F3-BD0432CB6D7E}" destId="{21C5353E-3DBA-47A6-B120-341276E94B88}" srcOrd="6" destOrd="0" presId="urn:microsoft.com/office/officeart/2005/8/layout/orgChart1"/>
    <dgm:cxn modelId="{1356E30E-0299-409A-A90D-3997BA70E818}" type="presParOf" srcId="{A79BADDC-3F89-419F-81F3-BD0432CB6D7E}" destId="{AA707BF7-0A0D-4AA8-9F1C-35D6AE869272}" srcOrd="7" destOrd="0" presId="urn:microsoft.com/office/officeart/2005/8/layout/orgChart1"/>
    <dgm:cxn modelId="{697BA2D4-7A5B-4324-8656-4B83F1BCB399}" type="presParOf" srcId="{AA707BF7-0A0D-4AA8-9F1C-35D6AE869272}" destId="{72014E87-D4E0-424C-B0CE-E9CF778C5EC2}" srcOrd="0" destOrd="0" presId="urn:microsoft.com/office/officeart/2005/8/layout/orgChart1"/>
    <dgm:cxn modelId="{EDE0E0ED-A081-4527-A5CC-29C8F3085D6E}" type="presParOf" srcId="{72014E87-D4E0-424C-B0CE-E9CF778C5EC2}" destId="{A98F9F32-8699-4921-AF90-AE125A6189FC}" srcOrd="0" destOrd="0" presId="urn:microsoft.com/office/officeart/2005/8/layout/orgChart1"/>
    <dgm:cxn modelId="{D53F5C09-0037-4880-A951-587508D795D2}" type="presParOf" srcId="{72014E87-D4E0-424C-B0CE-E9CF778C5EC2}" destId="{E023B6F5-166C-4F19-B24B-06A0051DF563}" srcOrd="1" destOrd="0" presId="urn:microsoft.com/office/officeart/2005/8/layout/orgChart1"/>
    <dgm:cxn modelId="{E2752FEF-2B15-4D3D-8D87-161B379E6D80}" type="presParOf" srcId="{AA707BF7-0A0D-4AA8-9F1C-35D6AE869272}" destId="{F0C1401F-0AA4-4363-8C6A-17890AD8D5B5}" srcOrd="1" destOrd="0" presId="urn:microsoft.com/office/officeart/2005/8/layout/orgChart1"/>
    <dgm:cxn modelId="{0571771A-0A1F-4A11-B239-D76F06742C8A}" type="presParOf" srcId="{AA707BF7-0A0D-4AA8-9F1C-35D6AE869272}" destId="{6F5B746E-B443-4A8E-8CE9-C1DC6709DE8B}" srcOrd="2" destOrd="0" presId="urn:microsoft.com/office/officeart/2005/8/layout/orgChart1"/>
    <dgm:cxn modelId="{822126D1-2C59-45A3-9EF6-BD45A4A8F0EE}" type="presParOf" srcId="{A79BADDC-3F89-419F-81F3-BD0432CB6D7E}" destId="{4AB7DE1C-397C-44A0-807E-25927A8AD8D4}" srcOrd="8" destOrd="0" presId="urn:microsoft.com/office/officeart/2005/8/layout/orgChart1"/>
    <dgm:cxn modelId="{0DB02796-780E-4893-85A1-335B5C5C5F6C}" type="presParOf" srcId="{A79BADDC-3F89-419F-81F3-BD0432CB6D7E}" destId="{A62AAE44-AE76-43AE-A0D8-39D3B1100DA1}" srcOrd="9" destOrd="0" presId="urn:microsoft.com/office/officeart/2005/8/layout/orgChart1"/>
    <dgm:cxn modelId="{68C114A7-BA49-4B9B-87C6-F68EB0A06A3B}" type="presParOf" srcId="{A62AAE44-AE76-43AE-A0D8-39D3B1100DA1}" destId="{2E7829F1-CB2C-4944-92A2-B9504747AC6D}" srcOrd="0" destOrd="0" presId="urn:microsoft.com/office/officeart/2005/8/layout/orgChart1"/>
    <dgm:cxn modelId="{AA732C42-64B3-47DF-A3F2-F8B8C306F8D2}" type="presParOf" srcId="{2E7829F1-CB2C-4944-92A2-B9504747AC6D}" destId="{05A68EBA-9D0E-498B-AA9A-1FB0821E0824}" srcOrd="0" destOrd="0" presId="urn:microsoft.com/office/officeart/2005/8/layout/orgChart1"/>
    <dgm:cxn modelId="{65520170-BEE6-4C7A-BDA3-88128AE17A0F}" type="presParOf" srcId="{2E7829F1-CB2C-4944-92A2-B9504747AC6D}" destId="{BA7BE31F-1724-4EBF-B87A-667C4094AA31}" srcOrd="1" destOrd="0" presId="urn:microsoft.com/office/officeart/2005/8/layout/orgChart1"/>
    <dgm:cxn modelId="{031A449E-AC00-4E3B-886C-46AF2040124C}" type="presParOf" srcId="{A62AAE44-AE76-43AE-A0D8-39D3B1100DA1}" destId="{87EE2F02-627F-4461-9A2C-07AACDD92812}" srcOrd="1" destOrd="0" presId="urn:microsoft.com/office/officeart/2005/8/layout/orgChart1"/>
    <dgm:cxn modelId="{9E35C8C2-58B3-451D-9C07-880A2664B18A}" type="presParOf" srcId="{A62AAE44-AE76-43AE-A0D8-39D3B1100DA1}" destId="{0DF55559-08FB-414F-9996-01CEE0B6E31A}" srcOrd="2" destOrd="0" presId="urn:microsoft.com/office/officeart/2005/8/layout/orgChart1"/>
    <dgm:cxn modelId="{28A43603-888F-4CAB-9636-6312C438504E}" type="presParOf" srcId="{C996F43B-26DC-4649-882B-341F24CE9145}" destId="{D1B09EDD-C244-4A4F-86F0-9F54B1F6A2D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B7DE1C-397C-44A0-807E-25927A8AD8D4}">
      <dsp:nvSpPr>
        <dsp:cNvPr id="0" name=""/>
        <dsp:cNvSpPr/>
      </dsp:nvSpPr>
      <dsp:spPr>
        <a:xfrm>
          <a:off x="5565653" y="2454794"/>
          <a:ext cx="4650847" cy="465744"/>
        </a:xfrm>
        <a:custGeom>
          <a:avLst/>
          <a:gdLst/>
          <a:ahLst/>
          <a:cxnLst/>
          <a:rect l="0" t="0" r="0" b="0"/>
          <a:pathLst>
            <a:path>
              <a:moveTo>
                <a:pt x="0" y="0"/>
              </a:moveTo>
              <a:lnTo>
                <a:pt x="0" y="264877"/>
              </a:lnTo>
              <a:lnTo>
                <a:pt x="4650847" y="264877"/>
              </a:lnTo>
              <a:lnTo>
                <a:pt x="4650847" y="4657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C5353E-3DBA-47A6-B120-341276E94B88}">
      <dsp:nvSpPr>
        <dsp:cNvPr id="0" name=""/>
        <dsp:cNvSpPr/>
      </dsp:nvSpPr>
      <dsp:spPr>
        <a:xfrm>
          <a:off x="5565653" y="2454794"/>
          <a:ext cx="2336088" cy="465744"/>
        </a:xfrm>
        <a:custGeom>
          <a:avLst/>
          <a:gdLst/>
          <a:ahLst/>
          <a:cxnLst/>
          <a:rect l="0" t="0" r="0" b="0"/>
          <a:pathLst>
            <a:path>
              <a:moveTo>
                <a:pt x="0" y="0"/>
              </a:moveTo>
              <a:lnTo>
                <a:pt x="0" y="264877"/>
              </a:lnTo>
              <a:lnTo>
                <a:pt x="2336088" y="264877"/>
              </a:lnTo>
              <a:lnTo>
                <a:pt x="2336088" y="4657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73131A-F1A1-4B96-A688-329E2C988924}">
      <dsp:nvSpPr>
        <dsp:cNvPr id="0" name=""/>
        <dsp:cNvSpPr/>
      </dsp:nvSpPr>
      <dsp:spPr>
        <a:xfrm>
          <a:off x="5519933" y="2454794"/>
          <a:ext cx="91440" cy="465744"/>
        </a:xfrm>
        <a:custGeom>
          <a:avLst/>
          <a:gdLst/>
          <a:ahLst/>
          <a:cxnLst/>
          <a:rect l="0" t="0" r="0" b="0"/>
          <a:pathLst>
            <a:path>
              <a:moveTo>
                <a:pt x="45720" y="0"/>
              </a:moveTo>
              <a:lnTo>
                <a:pt x="45720" y="264877"/>
              </a:lnTo>
              <a:lnTo>
                <a:pt x="67050" y="264877"/>
              </a:lnTo>
              <a:lnTo>
                <a:pt x="67050" y="4657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ED73F59-D6F2-44E9-80D5-FC66018C9C70}">
      <dsp:nvSpPr>
        <dsp:cNvPr id="0" name=""/>
        <dsp:cNvSpPr/>
      </dsp:nvSpPr>
      <dsp:spPr>
        <a:xfrm>
          <a:off x="3272225" y="2454794"/>
          <a:ext cx="2293428" cy="465744"/>
        </a:xfrm>
        <a:custGeom>
          <a:avLst/>
          <a:gdLst/>
          <a:ahLst/>
          <a:cxnLst/>
          <a:rect l="0" t="0" r="0" b="0"/>
          <a:pathLst>
            <a:path>
              <a:moveTo>
                <a:pt x="2293428" y="0"/>
              </a:moveTo>
              <a:lnTo>
                <a:pt x="2293428" y="264877"/>
              </a:lnTo>
              <a:lnTo>
                <a:pt x="0" y="264877"/>
              </a:lnTo>
              <a:lnTo>
                <a:pt x="0" y="4657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A45A5D-E425-486C-834F-FEDB0AA7E3BA}">
      <dsp:nvSpPr>
        <dsp:cNvPr id="0" name=""/>
        <dsp:cNvSpPr/>
      </dsp:nvSpPr>
      <dsp:spPr>
        <a:xfrm>
          <a:off x="957466" y="2454794"/>
          <a:ext cx="4608187" cy="465744"/>
        </a:xfrm>
        <a:custGeom>
          <a:avLst/>
          <a:gdLst/>
          <a:ahLst/>
          <a:cxnLst/>
          <a:rect l="0" t="0" r="0" b="0"/>
          <a:pathLst>
            <a:path>
              <a:moveTo>
                <a:pt x="4608187" y="0"/>
              </a:moveTo>
              <a:lnTo>
                <a:pt x="4608187" y="264877"/>
              </a:lnTo>
              <a:lnTo>
                <a:pt x="0" y="264877"/>
              </a:lnTo>
              <a:lnTo>
                <a:pt x="0" y="4657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86D18E-CB4A-4C29-A3C3-B914970A34B3}">
      <dsp:nvSpPr>
        <dsp:cNvPr id="0" name=""/>
        <dsp:cNvSpPr/>
      </dsp:nvSpPr>
      <dsp:spPr>
        <a:xfrm>
          <a:off x="4044704" y="1408179"/>
          <a:ext cx="3041898" cy="1046615"/>
        </a:xfrm>
        <a:prstGeom prst="rect">
          <a:avLst/>
        </a:prstGeom>
        <a:solidFill>
          <a:schemeClr val="bg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u="sng" kern="1200" dirty="0">
              <a:solidFill>
                <a:schemeClr val="tx1"/>
              </a:solidFill>
              <a:effectLst>
                <a:outerShdw blurRad="38100" dist="38100" dir="2700000" algn="tl">
                  <a:srgbClr val="000000">
                    <a:alpha val="43137"/>
                  </a:srgbClr>
                </a:outerShdw>
              </a:effectLst>
            </a:rPr>
            <a:t>Meet our Team</a:t>
          </a:r>
          <a:r>
            <a:rPr lang="en-ZA" sz="2200" kern="1200" dirty="0">
              <a:solidFill>
                <a:schemeClr val="tx1"/>
              </a:solidFill>
              <a:effectLst>
                <a:outerShdw blurRad="38100" dist="38100" dir="2700000" algn="tl">
                  <a:srgbClr val="000000">
                    <a:alpha val="43137"/>
                  </a:srgbClr>
                </a:outerShdw>
              </a:effectLst>
            </a:rPr>
            <a:t>:</a:t>
          </a:r>
        </a:p>
        <a:p>
          <a:pPr marL="0" lvl="0" indent="0" algn="ctr" defTabSz="977900">
            <a:lnSpc>
              <a:spcPct val="90000"/>
            </a:lnSpc>
            <a:spcBef>
              <a:spcPct val="0"/>
            </a:spcBef>
            <a:spcAft>
              <a:spcPct val="35000"/>
            </a:spcAft>
            <a:buNone/>
          </a:pPr>
          <a:r>
            <a:rPr lang="en-ZA" sz="1600" kern="1200" dirty="0">
              <a:solidFill>
                <a:schemeClr val="tx1"/>
              </a:solidFill>
              <a:effectLst>
                <a:outerShdw blurRad="38100" dist="38100" dir="2700000" algn="tl">
                  <a:srgbClr val="000000">
                    <a:alpha val="43137"/>
                  </a:srgbClr>
                </a:outerShdw>
              </a:effectLst>
            </a:rPr>
            <a:t>(Blending with SA Flag)</a:t>
          </a:r>
        </a:p>
      </dsp:txBody>
      <dsp:txXfrm>
        <a:off x="4044704" y="1408179"/>
        <a:ext cx="3041898" cy="1046615"/>
      </dsp:txXfrm>
    </dsp:sp>
    <dsp:sp modelId="{F97A4ED0-A1CA-4701-8A2C-E1EFB697EAC9}">
      <dsp:nvSpPr>
        <dsp:cNvPr id="0" name=""/>
        <dsp:cNvSpPr/>
      </dsp:nvSpPr>
      <dsp:spPr>
        <a:xfrm>
          <a:off x="954" y="2920539"/>
          <a:ext cx="1913023" cy="956511"/>
        </a:xfrm>
        <a:prstGeom prst="rect">
          <a:avLst/>
        </a:prstGeom>
        <a:solidFill>
          <a:srgbClr val="FF00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effectLst>
                <a:outerShdw blurRad="38100" dist="38100" dir="2700000" algn="tl">
                  <a:srgbClr val="000000">
                    <a:alpha val="43137"/>
                  </a:srgbClr>
                </a:outerShdw>
              </a:effectLst>
            </a:rPr>
            <a:t>Mokgadi-M: Web Dev</a:t>
          </a:r>
        </a:p>
      </dsp:txBody>
      <dsp:txXfrm>
        <a:off x="954" y="2920539"/>
        <a:ext cx="1913023" cy="956511"/>
      </dsp:txXfrm>
    </dsp:sp>
    <dsp:sp modelId="{CEE57142-2061-4AB7-849D-589BDF8DB19B}">
      <dsp:nvSpPr>
        <dsp:cNvPr id="0" name=""/>
        <dsp:cNvSpPr/>
      </dsp:nvSpPr>
      <dsp:spPr>
        <a:xfrm>
          <a:off x="2315713" y="2920539"/>
          <a:ext cx="1913023" cy="956511"/>
        </a:xfrm>
        <a:prstGeom prst="rect">
          <a:avLst/>
        </a:prstGeom>
        <a:solidFill>
          <a:srgbClr val="0070C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err="1">
              <a:effectLst>
                <a:outerShdw blurRad="38100" dist="38100" dir="2700000" algn="tl">
                  <a:srgbClr val="000000">
                    <a:alpha val="43137"/>
                  </a:srgbClr>
                </a:outerShdw>
              </a:effectLst>
            </a:rPr>
            <a:t>Aytee</a:t>
          </a:r>
          <a:r>
            <a:rPr lang="en-ZA" sz="2200" kern="1200" dirty="0">
              <a:effectLst>
                <a:outerShdw blurRad="38100" dist="38100" dir="2700000" algn="tl">
                  <a:srgbClr val="000000">
                    <a:alpha val="43137"/>
                  </a:srgbClr>
                </a:outerShdw>
              </a:effectLst>
            </a:rPr>
            <a:t>-A:  Researcher &amp; Documenter</a:t>
          </a:r>
        </a:p>
      </dsp:txBody>
      <dsp:txXfrm>
        <a:off x="2315713" y="2920539"/>
        <a:ext cx="1913023" cy="956511"/>
      </dsp:txXfrm>
    </dsp:sp>
    <dsp:sp modelId="{6EE8C26C-8079-466F-AE9D-A957C1E1BEC3}">
      <dsp:nvSpPr>
        <dsp:cNvPr id="0" name=""/>
        <dsp:cNvSpPr/>
      </dsp:nvSpPr>
      <dsp:spPr>
        <a:xfrm>
          <a:off x="4630472" y="2920539"/>
          <a:ext cx="1913023" cy="956511"/>
        </a:xfrm>
        <a:prstGeom prst="rect">
          <a:avLst/>
        </a:prstGeom>
        <a:solidFill>
          <a:srgbClr val="00B05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effectLst>
                <a:outerShdw blurRad="38100" dist="38100" dir="2700000" algn="tl">
                  <a:srgbClr val="000000">
                    <a:alpha val="43137"/>
                  </a:srgbClr>
                </a:outerShdw>
              </a:effectLst>
            </a:rPr>
            <a:t>Lethabo-L: Web Deployer to AWS S3</a:t>
          </a:r>
        </a:p>
      </dsp:txBody>
      <dsp:txXfrm>
        <a:off x="4630472" y="2920539"/>
        <a:ext cx="1913023" cy="956511"/>
      </dsp:txXfrm>
    </dsp:sp>
    <dsp:sp modelId="{A98F9F32-8699-4921-AF90-AE125A6189FC}">
      <dsp:nvSpPr>
        <dsp:cNvPr id="0" name=""/>
        <dsp:cNvSpPr/>
      </dsp:nvSpPr>
      <dsp:spPr>
        <a:xfrm>
          <a:off x="6945230" y="2920539"/>
          <a:ext cx="1913023" cy="956511"/>
        </a:xfrm>
        <a:prstGeom prst="rect">
          <a:avLst/>
        </a:prstGeom>
        <a:solidFill>
          <a:srgbClr val="FFFF00">
            <a:alpha val="39000"/>
          </a:srgb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effectLst>
                <a:outerShdw blurRad="38100" dist="38100" dir="2700000" algn="tl">
                  <a:srgbClr val="000000">
                    <a:alpha val="43137"/>
                  </a:srgbClr>
                </a:outerShdw>
              </a:effectLst>
            </a:rPr>
            <a:t>Leah-L: Presenter</a:t>
          </a:r>
        </a:p>
      </dsp:txBody>
      <dsp:txXfrm>
        <a:off x="6945230" y="2920539"/>
        <a:ext cx="1913023" cy="956511"/>
      </dsp:txXfrm>
    </dsp:sp>
    <dsp:sp modelId="{05A68EBA-9D0E-498B-AA9A-1FB0821E0824}">
      <dsp:nvSpPr>
        <dsp:cNvPr id="0" name=""/>
        <dsp:cNvSpPr/>
      </dsp:nvSpPr>
      <dsp:spPr>
        <a:xfrm>
          <a:off x="9259989" y="2920539"/>
          <a:ext cx="1913023" cy="956511"/>
        </a:xfrm>
        <a:prstGeom prst="rect">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ZA" sz="2200" kern="1200" dirty="0">
              <a:effectLst>
                <a:outerShdw blurRad="38100" dist="38100" dir="2700000" algn="tl">
                  <a:srgbClr val="000000">
                    <a:alpha val="43137"/>
                  </a:srgbClr>
                </a:outerShdw>
              </a:effectLst>
            </a:rPr>
            <a:t>Skhumbuzo-S: Web Dev</a:t>
          </a:r>
        </a:p>
      </dsp:txBody>
      <dsp:txXfrm>
        <a:off x="9259989" y="2920539"/>
        <a:ext cx="1913023" cy="95651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434531-C094-91C4-5382-7FFB839E75E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ZA"/>
              <a:t>@MALLS – Moving to AWS</a:t>
            </a:r>
          </a:p>
        </p:txBody>
      </p:sp>
      <p:sp>
        <p:nvSpPr>
          <p:cNvPr id="3" name="Date Placeholder 2">
            <a:extLst>
              <a:ext uri="{FF2B5EF4-FFF2-40B4-BE49-F238E27FC236}">
                <a16:creationId xmlns:a16="http://schemas.microsoft.com/office/drawing/2014/main" id="{549A033C-B67A-7AF3-3CA9-9F575FB830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C489F7-6281-4B7F-8B9F-00348E0F6B77}" type="datetimeFigureOut">
              <a:rPr lang="en-ZA" smtClean="0"/>
              <a:t>2025/11/17</a:t>
            </a:fld>
            <a:endParaRPr lang="en-ZA"/>
          </a:p>
        </p:txBody>
      </p:sp>
      <p:sp>
        <p:nvSpPr>
          <p:cNvPr id="4" name="Footer Placeholder 3">
            <a:extLst>
              <a:ext uri="{FF2B5EF4-FFF2-40B4-BE49-F238E27FC236}">
                <a16:creationId xmlns:a16="http://schemas.microsoft.com/office/drawing/2014/main" id="{9320CA95-5D6C-4550-09A3-9EE97EF931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a:extLst>
              <a:ext uri="{FF2B5EF4-FFF2-40B4-BE49-F238E27FC236}">
                <a16:creationId xmlns:a16="http://schemas.microsoft.com/office/drawing/2014/main" id="{E05D11E2-2AFB-A3E4-1F61-1E331579C5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B428F1-C2E4-441A-BA82-90B48006B224}" type="slidenum">
              <a:rPr lang="en-ZA" smtClean="0"/>
              <a:t>‹#›</a:t>
            </a:fld>
            <a:endParaRPr lang="en-ZA"/>
          </a:p>
        </p:txBody>
      </p:sp>
    </p:spTree>
    <p:extLst>
      <p:ext uri="{BB962C8B-B14F-4D97-AF65-F5344CB8AC3E}">
        <p14:creationId xmlns:p14="http://schemas.microsoft.com/office/powerpoint/2010/main" val="372934534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ZA"/>
              <a:t>@MALLS – Moving to AWS</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9F2071-7CFA-4961-ADD4-41168F72B417}" type="datetimeFigureOut">
              <a:rPr lang="en-ZA" smtClean="0"/>
              <a:t>2025/11/17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4A702A-59FF-4385-8A6C-4E9897BE2554}" type="slidenum">
              <a:rPr lang="en-ZA" smtClean="0"/>
              <a:t>‹#›</a:t>
            </a:fld>
            <a:endParaRPr lang="en-ZA"/>
          </a:p>
        </p:txBody>
      </p:sp>
    </p:spTree>
    <p:extLst>
      <p:ext uri="{BB962C8B-B14F-4D97-AF65-F5344CB8AC3E}">
        <p14:creationId xmlns:p14="http://schemas.microsoft.com/office/powerpoint/2010/main" val="2039600443"/>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Miss Leah!</a:t>
            </a:r>
          </a:p>
          <a:p>
            <a:endParaRPr lang="en-US" b="1" dirty="0"/>
          </a:p>
          <a:p>
            <a:r>
              <a:rPr lang="en-US" b="1" dirty="0"/>
              <a:t>Set the tone:</a:t>
            </a:r>
            <a:r>
              <a:rPr lang="en-US" dirty="0"/>
              <a:t> Welcome everyone to the presentation about our digital journey at </a:t>
            </a:r>
            <a:r>
              <a:rPr lang="en-US" b="1" dirty="0"/>
              <a:t>@MALLS—”Africa's finest roots”</a:t>
            </a:r>
            <a:r>
              <a:rPr lang="en-US" dirty="0"/>
              <a:t>.</a:t>
            </a:r>
          </a:p>
          <a:p>
            <a:endParaRPr lang="en-US" dirty="0"/>
          </a:p>
          <a:p>
            <a:r>
              <a:rPr lang="en-US" b="1" dirty="0"/>
              <a:t>Focus:</a:t>
            </a:r>
            <a:r>
              <a:rPr lang="en-US" dirty="0"/>
              <a:t> Today, we'll cover our restaurant's challenges and how our migration to AWS has provided a modern, cost-effective solution.</a:t>
            </a:r>
          </a:p>
          <a:p>
            <a:endParaRPr lang="en-US" dirty="0"/>
          </a:p>
          <a:p>
            <a:r>
              <a:rPr lang="en-US" b="1" dirty="0"/>
              <a:t>Handover</a:t>
            </a:r>
            <a:r>
              <a:rPr lang="en-US" dirty="0"/>
              <a:t>: I will handover to Moks to demonstrate further…</a:t>
            </a:r>
          </a:p>
          <a:p>
            <a:r>
              <a:rPr lang="en-US" dirty="0"/>
              <a:t>Moks take over…</a:t>
            </a:r>
            <a:endParaRPr lang="en-ZA" dirty="0"/>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1</a:t>
            </a:fld>
            <a:endParaRPr lang="en-ZA"/>
          </a:p>
        </p:txBody>
      </p:sp>
    </p:spTree>
    <p:extLst>
      <p:ext uri="{BB962C8B-B14F-4D97-AF65-F5344CB8AC3E}">
        <p14:creationId xmlns:p14="http://schemas.microsoft.com/office/powerpoint/2010/main" val="2317843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Moks part:</a:t>
            </a:r>
          </a:p>
          <a:p>
            <a:endParaRPr lang="en-ZA" dirty="0"/>
          </a:p>
          <a:p>
            <a:r>
              <a:rPr lang="en-ZA" b="1" dirty="0"/>
              <a:t>Great everyone in class first:</a:t>
            </a:r>
          </a:p>
          <a:p>
            <a:endParaRPr lang="en-ZA" b="1" dirty="0"/>
          </a:p>
          <a:p>
            <a:r>
              <a:rPr lang="en-ZA" b="1" dirty="0"/>
              <a:t>Introducing the Team:</a:t>
            </a:r>
          </a:p>
          <a:p>
            <a:endParaRPr lang="en-ZA" dirty="0"/>
          </a:p>
          <a:p>
            <a:r>
              <a:rPr lang="en-ZA" dirty="0"/>
              <a:t>We are @MALLS Restaurant team – bringing South African culture to life with vibrant colours.</a:t>
            </a:r>
          </a:p>
          <a:p>
            <a:endParaRPr lang="en-ZA" dirty="0"/>
          </a:p>
          <a:p>
            <a:r>
              <a:rPr lang="en-ZA" dirty="0"/>
              <a:t>Go to the next slide..</a:t>
            </a:r>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2</a:t>
            </a:fld>
            <a:endParaRPr lang="en-ZA"/>
          </a:p>
        </p:txBody>
      </p:sp>
    </p:spTree>
    <p:extLst>
      <p:ext uri="{BB962C8B-B14F-4D97-AF65-F5344CB8AC3E}">
        <p14:creationId xmlns:p14="http://schemas.microsoft.com/office/powerpoint/2010/main" val="1592699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32FE0-C4D1-E48E-E9AF-91E62C415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43E57-C813-5BE4-F742-2415EA401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17742-D9C9-2161-A19D-6075FE6E6C71}"/>
              </a:ext>
            </a:extLst>
          </p:cNvPr>
          <p:cNvSpPr>
            <a:spLocks noGrp="1"/>
          </p:cNvSpPr>
          <p:nvPr>
            <p:ph type="body" idx="1"/>
          </p:nvPr>
        </p:nvSpPr>
        <p:spPr/>
        <p:txBody>
          <a:bodyPr/>
          <a:lstStyle/>
          <a:p>
            <a:r>
              <a:rPr lang="en-US" b="1" dirty="0"/>
              <a:t>Moks, start by saying: </a:t>
            </a:r>
            <a:r>
              <a:rPr lang="en-US" dirty="0"/>
              <a:t>I will walk you through our restaurant current situation..</a:t>
            </a:r>
          </a:p>
          <a:p>
            <a:endParaRPr lang="en-US" dirty="0"/>
          </a:p>
          <a:p>
            <a:r>
              <a:rPr lang="en-US" b="1" dirty="0"/>
              <a:t>History of the restaurant:</a:t>
            </a:r>
          </a:p>
          <a:p>
            <a:r>
              <a:rPr lang="en-US" dirty="0"/>
              <a:t>*It Started(2020)-founded by 5 great Team players, and branded the Restaurant @MALLS, so we can bring SA </a:t>
            </a:r>
            <a:r>
              <a:rPr lang="en-US" dirty="0" err="1"/>
              <a:t>flavours</a:t>
            </a:r>
            <a:r>
              <a:rPr lang="en-US" dirty="0"/>
              <a:t> to Gauteng.</a:t>
            </a:r>
          </a:p>
          <a:p>
            <a:r>
              <a:rPr lang="en-US" dirty="0"/>
              <a:t>*Our Milestone(</a:t>
            </a:r>
            <a:r>
              <a:rPr lang="en-US" b="1" i="1" dirty="0"/>
              <a:t>pause a little bit)-</a:t>
            </a:r>
            <a:r>
              <a:rPr lang="en-US" dirty="0"/>
              <a:t>We opened a permanent spot in Bramley view.</a:t>
            </a:r>
          </a:p>
          <a:p>
            <a:endParaRPr lang="en-US" dirty="0"/>
          </a:p>
          <a:p>
            <a:r>
              <a:rPr lang="en-US" b="1" dirty="0"/>
              <a:t>Our restaurant </a:t>
            </a:r>
            <a:r>
              <a:rPr lang="en-US" b="1" dirty="0" err="1"/>
              <a:t>Uniquenes</a:t>
            </a:r>
            <a:r>
              <a:rPr lang="en-US" dirty="0"/>
              <a:t>:</a:t>
            </a:r>
          </a:p>
          <a:p>
            <a:r>
              <a:rPr lang="en-US" dirty="0"/>
              <a:t>*The </a:t>
            </a:r>
            <a:r>
              <a:rPr lang="en-US" b="1" dirty="0"/>
              <a:t>Core value</a:t>
            </a:r>
            <a:r>
              <a:rPr lang="en-US" dirty="0"/>
              <a:t>: its being authentic South African cuisine for every South African culture.</a:t>
            </a:r>
          </a:p>
          <a:p>
            <a:r>
              <a:rPr lang="en-US" dirty="0"/>
              <a:t>*Our restaurant is a go-to for locals, a must-see for tourists craving real SA taste.</a:t>
            </a:r>
          </a:p>
          <a:p>
            <a:endParaRPr lang="en-US" dirty="0"/>
          </a:p>
          <a:p>
            <a:r>
              <a:rPr lang="en-US" b="1" dirty="0"/>
              <a:t>Customer:</a:t>
            </a:r>
          </a:p>
          <a:p>
            <a:r>
              <a:rPr lang="en-US" dirty="0"/>
              <a:t>*The Locals: families, students, office workers seeking fast food and home-cooked meal feeling.</a:t>
            </a:r>
          </a:p>
          <a:p>
            <a:r>
              <a:rPr lang="en-US" dirty="0"/>
              <a:t>*Food lovers: they love braai, bobotie, bunny chow..</a:t>
            </a:r>
            <a:r>
              <a:rPr lang="en-US" dirty="0" err="1"/>
              <a:t>etc</a:t>
            </a:r>
            <a:r>
              <a:rPr lang="en-US" dirty="0"/>
              <a:t>..</a:t>
            </a:r>
          </a:p>
          <a:p>
            <a:r>
              <a:rPr lang="en-US" dirty="0"/>
              <a:t>*Tourists visitors: wanting an authentic SA culinary experience.</a:t>
            </a:r>
          </a:p>
          <a:p>
            <a:endParaRPr lang="en-US" dirty="0"/>
          </a:p>
          <a:p>
            <a:r>
              <a:rPr lang="en-US" dirty="0"/>
              <a:t>Go to the next slide..</a:t>
            </a:r>
          </a:p>
        </p:txBody>
      </p:sp>
      <p:sp>
        <p:nvSpPr>
          <p:cNvPr id="4" name="Header Placeholder 3">
            <a:extLst>
              <a:ext uri="{FF2B5EF4-FFF2-40B4-BE49-F238E27FC236}">
                <a16:creationId xmlns:a16="http://schemas.microsoft.com/office/drawing/2014/main" id="{885838C2-67F8-1AAD-C715-6B6849328466}"/>
              </a:ext>
            </a:extLst>
          </p:cNvPr>
          <p:cNvSpPr>
            <a:spLocks noGrp="1"/>
          </p:cNvSpPr>
          <p:nvPr>
            <p:ph type="hdr" sz="quarter"/>
          </p:nvPr>
        </p:nvSpPr>
        <p:spPr/>
        <p:txBody>
          <a:bodyPr/>
          <a:lstStyle/>
          <a:p>
            <a:r>
              <a:rPr lang="en-ZA"/>
              <a:t>@MALLS – Moving to AWS</a:t>
            </a:r>
          </a:p>
        </p:txBody>
      </p:sp>
      <p:sp>
        <p:nvSpPr>
          <p:cNvPr id="5" name="Slide Number Placeholder 4">
            <a:extLst>
              <a:ext uri="{FF2B5EF4-FFF2-40B4-BE49-F238E27FC236}">
                <a16:creationId xmlns:a16="http://schemas.microsoft.com/office/drawing/2014/main" id="{C38BEB42-3C31-4190-02D8-7FF578A6E2DB}"/>
              </a:ext>
            </a:extLst>
          </p:cNvPr>
          <p:cNvSpPr>
            <a:spLocks noGrp="1"/>
          </p:cNvSpPr>
          <p:nvPr>
            <p:ph type="sldNum" sz="quarter" idx="5"/>
          </p:nvPr>
        </p:nvSpPr>
        <p:spPr/>
        <p:txBody>
          <a:bodyPr/>
          <a:lstStyle/>
          <a:p>
            <a:fld id="{304A702A-59FF-4385-8A6C-4E9897BE2554}" type="slidenum">
              <a:rPr lang="en-ZA" smtClean="0"/>
              <a:t>3</a:t>
            </a:fld>
            <a:endParaRPr lang="en-ZA"/>
          </a:p>
        </p:txBody>
      </p:sp>
    </p:spTree>
    <p:extLst>
      <p:ext uri="{BB962C8B-B14F-4D97-AF65-F5344CB8AC3E}">
        <p14:creationId xmlns:p14="http://schemas.microsoft.com/office/powerpoint/2010/main" val="2739346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Challenges we faced in our restaurant: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Before the digital upgrade we had big problems: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had Order Issues- Orders got mixed up and wrong dishes went out, making customers angry.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*Double bookings caused long waits for tables.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 central customer information(Data), so we lost repeat business and loyalty from our customers.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*Not enough staff meant everything had to be done manually slowing us down.</a:t>
            </a:r>
          </a:p>
          <a:p>
            <a:endParaRPr lang="en-ZA" dirty="0"/>
          </a:p>
          <a:p>
            <a:r>
              <a:rPr lang="en-ZA" b="1" dirty="0"/>
              <a:t>Go to the next slide..</a:t>
            </a:r>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4</a:t>
            </a:fld>
            <a:endParaRPr lang="en-ZA"/>
          </a:p>
        </p:txBody>
      </p:sp>
    </p:spTree>
    <p:extLst>
      <p:ext uri="{BB962C8B-B14F-4D97-AF65-F5344CB8AC3E}">
        <p14:creationId xmlns:p14="http://schemas.microsoft.com/office/powerpoint/2010/main" val="997745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Our Vision </a:t>
            </a:r>
            <a:r>
              <a:rPr lang="en-ZA" dirty="0"/>
              <a:t>was to build simple, powerful online presence: </a:t>
            </a:r>
          </a:p>
          <a:p>
            <a:endParaRPr lang="en-ZA" dirty="0"/>
          </a:p>
          <a:p>
            <a:r>
              <a:rPr lang="en-ZA" dirty="0"/>
              <a:t>So we aimed for a simple static website that would include:</a:t>
            </a:r>
          </a:p>
          <a:p>
            <a:endParaRPr lang="en-ZA" dirty="0"/>
          </a:p>
          <a:p>
            <a:r>
              <a:rPr lang="en-ZA" dirty="0"/>
              <a:t>*High-quality pictures of our dishes.</a:t>
            </a:r>
          </a:p>
          <a:p>
            <a:endParaRPr lang="en-ZA" dirty="0"/>
          </a:p>
          <a:p>
            <a:r>
              <a:rPr lang="en-ZA" dirty="0"/>
              <a:t>*Integrated forms for dine-in bookings and take-away orders.</a:t>
            </a:r>
          </a:p>
          <a:p>
            <a:endParaRPr lang="en-ZA" dirty="0"/>
          </a:p>
          <a:p>
            <a:r>
              <a:rPr lang="en-ZA" dirty="0"/>
              <a:t>*A robust loyalty programme.</a:t>
            </a:r>
          </a:p>
          <a:p>
            <a:endParaRPr lang="en-ZA" dirty="0"/>
          </a:p>
          <a:p>
            <a:r>
              <a:rPr lang="en-ZA" dirty="0"/>
              <a:t>*Customer login/register/sign-up functionality, this will help us to track our loyal customers and not to lose customers but to grow the business.</a:t>
            </a:r>
          </a:p>
          <a:p>
            <a:endParaRPr lang="en-ZA" dirty="0"/>
          </a:p>
          <a:p>
            <a:r>
              <a:rPr lang="en-ZA" dirty="0"/>
              <a:t>*Interactive Map &amp; directions for easy access to our premises.</a:t>
            </a:r>
          </a:p>
          <a:p>
            <a:endParaRPr lang="en-ZA" dirty="0"/>
          </a:p>
          <a:p>
            <a:r>
              <a:rPr lang="en-ZA" b="1" dirty="0"/>
              <a:t>Moks, give Miss Leah a chance to bring in the next segment!!</a:t>
            </a:r>
          </a:p>
          <a:p>
            <a:endParaRPr lang="en-ZA" dirty="0"/>
          </a:p>
          <a:p>
            <a:r>
              <a:rPr lang="en-ZA" b="1" dirty="0"/>
              <a:t>Miss Leah </a:t>
            </a:r>
            <a:r>
              <a:rPr lang="en-ZA" dirty="0"/>
              <a:t>come in:</a:t>
            </a:r>
          </a:p>
          <a:p>
            <a:endParaRPr lang="en-ZA" dirty="0"/>
          </a:p>
          <a:p>
            <a:r>
              <a:rPr lang="en-ZA" dirty="0"/>
              <a:t>Leah: We now going to handover our web </a:t>
            </a:r>
            <a:r>
              <a:rPr lang="en-ZA" dirty="0" err="1"/>
              <a:t>devs</a:t>
            </a:r>
            <a:r>
              <a:rPr lang="en-ZA" dirty="0"/>
              <a:t> to demonstrate the website on S3..</a:t>
            </a:r>
          </a:p>
          <a:p>
            <a:r>
              <a:rPr lang="en-ZA" dirty="0"/>
              <a:t>Leah: Lethabo &amp; </a:t>
            </a:r>
            <a:r>
              <a:rPr lang="en-ZA" dirty="0" err="1"/>
              <a:t>Skhuh</a:t>
            </a:r>
            <a:r>
              <a:rPr lang="en-ZA" dirty="0"/>
              <a:t> the floor is yours..</a:t>
            </a:r>
          </a:p>
          <a:p>
            <a:r>
              <a:rPr lang="en-ZA" dirty="0"/>
              <a:t>Lethabo: We deployed on AWS S3, and show them a little demonstration </a:t>
            </a:r>
            <a:r>
              <a:rPr lang="en-ZA" dirty="0" err="1"/>
              <a:t>e.g</a:t>
            </a:r>
            <a:r>
              <a:rPr lang="en-ZA" dirty="0"/>
              <a:t> the pics. And handover to </a:t>
            </a:r>
            <a:r>
              <a:rPr lang="en-ZA" dirty="0" err="1"/>
              <a:t>Skhuh</a:t>
            </a:r>
            <a:r>
              <a:rPr lang="en-ZA" dirty="0"/>
              <a:t> &amp; Moks </a:t>
            </a:r>
          </a:p>
          <a:p>
            <a:r>
              <a:rPr lang="en-ZA" dirty="0" err="1"/>
              <a:t>Skhuh</a:t>
            </a:r>
            <a:r>
              <a:rPr lang="en-ZA" dirty="0"/>
              <a:t>: Lead the demonstration(show off the websites function and if you feel you enough just say.. Moks take over)</a:t>
            </a:r>
          </a:p>
          <a:p>
            <a:r>
              <a:rPr lang="en-ZA" dirty="0"/>
              <a:t>Moks: finish off the demonstration..</a:t>
            </a:r>
          </a:p>
          <a:p>
            <a:endParaRPr lang="en-ZA" dirty="0"/>
          </a:p>
          <a:p>
            <a:r>
              <a:rPr lang="en-ZA" dirty="0"/>
              <a:t>Miss Leah come in and hand over to </a:t>
            </a:r>
            <a:r>
              <a:rPr lang="en-ZA" dirty="0" err="1"/>
              <a:t>Aytee</a:t>
            </a:r>
            <a:r>
              <a:rPr lang="en-ZA" dirty="0"/>
              <a:t>:</a:t>
            </a:r>
          </a:p>
          <a:p>
            <a:r>
              <a:rPr lang="en-ZA" dirty="0"/>
              <a:t>Leah: </a:t>
            </a:r>
            <a:r>
              <a:rPr lang="en-ZA" dirty="0" err="1"/>
              <a:t>Aytee</a:t>
            </a:r>
            <a:r>
              <a:rPr lang="en-ZA" dirty="0"/>
              <a:t> please take us to the end!</a:t>
            </a:r>
          </a:p>
          <a:p>
            <a:endParaRPr lang="en-ZA" dirty="0"/>
          </a:p>
          <a:p>
            <a:r>
              <a:rPr lang="en-ZA" b="1" dirty="0"/>
              <a:t>Go to the next slide:</a:t>
            </a:r>
          </a:p>
          <a:p>
            <a:endParaRPr lang="en-ZA" dirty="0"/>
          </a:p>
          <a:p>
            <a:r>
              <a:rPr lang="en-ZA" dirty="0" err="1"/>
              <a:t>Aytee</a:t>
            </a:r>
            <a:r>
              <a:rPr lang="en-ZA" dirty="0"/>
              <a:t>: finish off the slides</a:t>
            </a:r>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5</a:t>
            </a:fld>
            <a:endParaRPr lang="en-ZA"/>
          </a:p>
        </p:txBody>
      </p:sp>
    </p:spTree>
    <p:extLst>
      <p:ext uri="{BB962C8B-B14F-4D97-AF65-F5344CB8AC3E}">
        <p14:creationId xmlns:p14="http://schemas.microsoft.com/office/powerpoint/2010/main" val="272766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E02D2-4384-9895-4349-64ED75471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B6832-DBF8-22CA-9A24-0FB65B564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205E7-B88F-1FCB-D6B2-F86AA6E4160E}"/>
              </a:ext>
            </a:extLst>
          </p:cNvPr>
          <p:cNvSpPr>
            <a:spLocks noGrp="1"/>
          </p:cNvSpPr>
          <p:nvPr>
            <p:ph type="body" idx="1"/>
          </p:nvPr>
        </p:nvSpPr>
        <p:spPr/>
        <p:txBody>
          <a:bodyPr/>
          <a:lstStyle/>
          <a:p>
            <a:r>
              <a:rPr lang="en-US" dirty="0"/>
              <a:t>This is where the AWS S3 is presented by Lethabo</a:t>
            </a:r>
            <a:endParaRPr lang="en-ZA" dirty="0"/>
          </a:p>
        </p:txBody>
      </p:sp>
      <p:sp>
        <p:nvSpPr>
          <p:cNvPr id="4" name="Header Placeholder 3">
            <a:extLst>
              <a:ext uri="{FF2B5EF4-FFF2-40B4-BE49-F238E27FC236}">
                <a16:creationId xmlns:a16="http://schemas.microsoft.com/office/drawing/2014/main" id="{4BCB1549-B646-3295-4444-404572D213E4}"/>
              </a:ext>
            </a:extLst>
          </p:cNvPr>
          <p:cNvSpPr>
            <a:spLocks noGrp="1"/>
          </p:cNvSpPr>
          <p:nvPr>
            <p:ph type="hdr" sz="quarter"/>
          </p:nvPr>
        </p:nvSpPr>
        <p:spPr/>
        <p:txBody>
          <a:bodyPr/>
          <a:lstStyle/>
          <a:p>
            <a:r>
              <a:rPr lang="en-ZA"/>
              <a:t>@MALLS – Moving to AWS</a:t>
            </a:r>
          </a:p>
        </p:txBody>
      </p:sp>
      <p:sp>
        <p:nvSpPr>
          <p:cNvPr id="5" name="Slide Number Placeholder 4">
            <a:extLst>
              <a:ext uri="{FF2B5EF4-FFF2-40B4-BE49-F238E27FC236}">
                <a16:creationId xmlns:a16="http://schemas.microsoft.com/office/drawing/2014/main" id="{4EC82CB5-321F-CF18-251E-71B4B06EBFF6}"/>
              </a:ext>
            </a:extLst>
          </p:cNvPr>
          <p:cNvSpPr>
            <a:spLocks noGrp="1"/>
          </p:cNvSpPr>
          <p:nvPr>
            <p:ph type="sldNum" sz="quarter" idx="5"/>
          </p:nvPr>
        </p:nvSpPr>
        <p:spPr/>
        <p:txBody>
          <a:bodyPr/>
          <a:lstStyle/>
          <a:p>
            <a:fld id="{304A702A-59FF-4385-8A6C-4E9897BE2554}" type="slidenum">
              <a:rPr lang="en-ZA" smtClean="0"/>
              <a:t>6</a:t>
            </a:fld>
            <a:endParaRPr lang="en-ZA"/>
          </a:p>
        </p:txBody>
      </p:sp>
    </p:spTree>
    <p:extLst>
      <p:ext uri="{BB962C8B-B14F-4D97-AF65-F5344CB8AC3E}">
        <p14:creationId xmlns:p14="http://schemas.microsoft.com/office/powerpoint/2010/main" val="3155685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website presented, by </a:t>
            </a:r>
            <a:r>
              <a:rPr lang="en-US" dirty="0" err="1"/>
              <a:t>Skhuh</a:t>
            </a:r>
            <a:r>
              <a:rPr lang="en-US" dirty="0"/>
              <a:t> and Moks</a:t>
            </a:r>
            <a:endParaRPr lang="en-ZA" dirty="0"/>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7</a:t>
            </a:fld>
            <a:endParaRPr lang="en-ZA"/>
          </a:p>
        </p:txBody>
      </p:sp>
    </p:spTree>
    <p:extLst>
      <p:ext uri="{BB962C8B-B14F-4D97-AF65-F5344CB8AC3E}">
        <p14:creationId xmlns:p14="http://schemas.microsoft.com/office/powerpoint/2010/main" val="3518980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Our Current Static Website on AWS </a:t>
            </a:r>
          </a:p>
          <a:p>
            <a:endParaRPr lang="en-US" b="1" dirty="0"/>
          </a:p>
          <a:p>
            <a:r>
              <a:rPr lang="en-US" b="1" dirty="0"/>
              <a:t>The Architecture:</a:t>
            </a:r>
            <a:r>
              <a:rPr lang="en-US" dirty="0"/>
              <a:t> We decided to leverage the power of </a:t>
            </a:r>
            <a:r>
              <a:rPr lang="en-US" b="1" dirty="0"/>
              <a:t>Amazon Web Services (AWS)</a:t>
            </a:r>
            <a:r>
              <a:rPr lang="en-US" dirty="0"/>
              <a:t> to host our site.</a:t>
            </a:r>
          </a:p>
          <a:p>
            <a:endParaRPr lang="en-US" dirty="0"/>
          </a:p>
          <a:p>
            <a:r>
              <a:rPr lang="en-US" b="1" dirty="0"/>
              <a:t>The "Serverless" Approach:</a:t>
            </a:r>
            <a:r>
              <a:rPr lang="en-US" dirty="0"/>
              <a:t> Show how we built the site using various AWS services.</a:t>
            </a:r>
          </a:p>
          <a:p>
            <a:endParaRPr lang="en-US" b="1" dirty="0"/>
          </a:p>
          <a:p>
            <a:r>
              <a:rPr lang="en-US" b="1" dirty="0"/>
              <a:t>*S3 &amp; CloudFront:</a:t>
            </a:r>
            <a:r>
              <a:rPr lang="en-US" dirty="0"/>
              <a:t> The website and images are hosted on S3 and delivered globally fast via CloudFront.</a:t>
            </a:r>
          </a:p>
          <a:p>
            <a:endParaRPr lang="en-US" dirty="0"/>
          </a:p>
          <a:p>
            <a:r>
              <a:rPr lang="en-US" dirty="0"/>
              <a:t>*</a:t>
            </a:r>
            <a:r>
              <a:rPr lang="en-US" b="1" dirty="0"/>
              <a:t>Route 53: </a:t>
            </a:r>
            <a:r>
              <a:rPr lang="en-US" dirty="0"/>
              <a:t>Custom domain &amp; DNS, like (www.@MALLS.co.za)</a:t>
            </a:r>
          </a:p>
          <a:p>
            <a:endParaRPr lang="en-US" dirty="0"/>
          </a:p>
          <a:p>
            <a:r>
              <a:rPr lang="en-US" dirty="0"/>
              <a:t>*</a:t>
            </a:r>
            <a:r>
              <a:rPr lang="en-US" b="1" dirty="0"/>
              <a:t>API Gateway &amp; Lambda:</a:t>
            </a:r>
            <a:r>
              <a:rPr lang="en-US" dirty="0"/>
              <a:t> Forms connect to the back-end using API Gateway, and Lambda handles the actual booking and order logic.</a:t>
            </a:r>
          </a:p>
          <a:p>
            <a:endParaRPr lang="en-US" b="1" dirty="0"/>
          </a:p>
          <a:p>
            <a:r>
              <a:rPr lang="en-US" b="1" dirty="0"/>
              <a:t>*DynamoDB &amp; Cognito:</a:t>
            </a:r>
            <a:r>
              <a:rPr lang="en-US" dirty="0"/>
              <a:t> DynamoDB stores all reservations, orders, and loyalty points, while Cognito manages secure customer login and registration.</a:t>
            </a:r>
          </a:p>
          <a:p>
            <a:endParaRPr lang="en-US" dirty="0"/>
          </a:p>
          <a:p>
            <a:r>
              <a:rPr lang="en-US" dirty="0"/>
              <a:t>*</a:t>
            </a:r>
            <a:r>
              <a:rPr lang="en-US" b="1" dirty="0"/>
              <a:t>Location services </a:t>
            </a:r>
            <a:r>
              <a:rPr lang="en-US" dirty="0"/>
              <a:t>for interactive Map.</a:t>
            </a:r>
          </a:p>
          <a:p>
            <a:endParaRPr lang="en-US" dirty="0"/>
          </a:p>
          <a:p>
            <a:r>
              <a:rPr lang="en-US" b="1" dirty="0"/>
              <a:t>*Benefit:</a:t>
            </a:r>
            <a:r>
              <a:rPr lang="en-US" dirty="0"/>
              <a:t> This keeps the site </a:t>
            </a:r>
            <a:r>
              <a:rPr lang="en-US" b="1" dirty="0"/>
              <a:t>cheap, scalable, and always available</a:t>
            </a:r>
            <a:r>
              <a:rPr lang="en-US" dirty="0"/>
              <a:t> for our guests.</a:t>
            </a:r>
          </a:p>
          <a:p>
            <a:endParaRPr lang="en-ZA" dirty="0"/>
          </a:p>
          <a:p>
            <a:r>
              <a:rPr lang="en-ZA" b="1" dirty="0"/>
              <a:t>Go to the next slide:</a:t>
            </a:r>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8</a:t>
            </a:fld>
            <a:endParaRPr lang="en-ZA"/>
          </a:p>
        </p:txBody>
      </p:sp>
    </p:spTree>
    <p:extLst>
      <p:ext uri="{BB962C8B-B14F-4D97-AF65-F5344CB8AC3E}">
        <p14:creationId xmlns:p14="http://schemas.microsoft.com/office/powerpoint/2010/main" val="3492998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AWS COST ANALYSIS:</a:t>
            </a:r>
          </a:p>
          <a:p>
            <a:endParaRPr lang="en-US" b="1" dirty="0"/>
          </a:p>
          <a:p>
            <a:r>
              <a:rPr lang="en-US" b="0" dirty="0"/>
              <a:t>[Full names](</a:t>
            </a:r>
            <a:r>
              <a:rPr lang="en-US" b="1" dirty="0"/>
              <a:t>Don’t say them </a:t>
            </a:r>
            <a:r>
              <a:rPr lang="en-US" b="1" dirty="0" err="1"/>
              <a:t>outloud</a:t>
            </a:r>
            <a:r>
              <a:rPr lang="en-US" b="1" dirty="0"/>
              <a:t>, this is only if they ask us of the abbreviations only</a:t>
            </a:r>
            <a:r>
              <a:rPr lang="en-US" b="0" dirty="0"/>
              <a:t>)</a:t>
            </a:r>
          </a:p>
          <a:p>
            <a:r>
              <a:rPr lang="en-US" b="0" dirty="0"/>
              <a:t>*ACM = AWS Certificate Manager</a:t>
            </a:r>
          </a:p>
          <a:p>
            <a:r>
              <a:rPr lang="en-US" b="0" dirty="0"/>
              <a:t>*SSL= Secure Sockets Layer (The protocol that ACM uses for its certificates)</a:t>
            </a:r>
          </a:p>
          <a:p>
            <a:endParaRPr lang="en-US" b="1" dirty="0"/>
          </a:p>
          <a:p>
            <a:r>
              <a:rPr lang="en-US" b="1" dirty="0"/>
              <a:t>AWS cost breakdown:</a:t>
            </a:r>
          </a:p>
          <a:p>
            <a:r>
              <a:rPr lang="en-US" b="1" dirty="0"/>
              <a:t>*</a:t>
            </a:r>
            <a:r>
              <a:rPr lang="en-US" b="0" dirty="0"/>
              <a:t>Most expensive: </a:t>
            </a:r>
            <a:r>
              <a:rPr lang="en-US" b="0" dirty="0" err="1"/>
              <a:t>Cloudfront</a:t>
            </a:r>
            <a:r>
              <a:rPr lang="en-US" b="0" dirty="0"/>
              <a:t> – R470(Makes pages and images load super fast </a:t>
            </a:r>
            <a:r>
              <a:rPr lang="en-US" b="0" dirty="0" err="1"/>
              <a:t>worlwide</a:t>
            </a:r>
            <a:r>
              <a:rPr lang="en-US" b="0" dirty="0"/>
              <a:t>)</a:t>
            </a:r>
          </a:p>
          <a:p>
            <a:endParaRPr lang="en-US" b="1" dirty="0"/>
          </a:p>
          <a:p>
            <a:r>
              <a:rPr lang="en-US" b="1" dirty="0"/>
              <a:t>*Free or cheap: </a:t>
            </a:r>
          </a:p>
          <a:p>
            <a:r>
              <a:rPr lang="en-US" b="1" dirty="0"/>
              <a:t>*</a:t>
            </a:r>
            <a:r>
              <a:rPr lang="en-US" b="0" dirty="0"/>
              <a:t>S3 = Low cost service (Stores all the pictures, the website files, the menu pdfs)</a:t>
            </a:r>
          </a:p>
          <a:p>
            <a:endParaRPr lang="en-US" b="1" dirty="0"/>
          </a:p>
          <a:p>
            <a:r>
              <a:rPr lang="en-US" b="1" dirty="0"/>
              <a:t>*Route 53 = </a:t>
            </a:r>
            <a:r>
              <a:rPr lang="en-US" b="0" dirty="0"/>
              <a:t>Low cost service (Handles our custom domain like, www.@MALLS.co.za)</a:t>
            </a:r>
          </a:p>
          <a:p>
            <a:endParaRPr lang="en-US" b="1" dirty="0"/>
          </a:p>
          <a:p>
            <a:r>
              <a:rPr lang="en-US" b="1" dirty="0"/>
              <a:t>*SSL certificates via ACM = </a:t>
            </a:r>
            <a:r>
              <a:rPr lang="en-US" b="0" dirty="0"/>
              <a:t>Free service (Gives us a free SSL certificates so the site runs on https)</a:t>
            </a:r>
          </a:p>
          <a:p>
            <a:endParaRPr lang="en-US" b="1" dirty="0"/>
          </a:p>
          <a:p>
            <a:r>
              <a:rPr lang="en-US" b="1" dirty="0"/>
              <a:t>*API Gateway = </a:t>
            </a:r>
            <a:r>
              <a:rPr lang="en-US" b="0" dirty="0"/>
              <a:t>Low cost service (Lets the booking and take-away forms talk to the back-end)</a:t>
            </a:r>
          </a:p>
          <a:p>
            <a:endParaRPr lang="en-US" b="1" dirty="0"/>
          </a:p>
          <a:p>
            <a:r>
              <a:rPr lang="en-US" b="1" dirty="0"/>
              <a:t>*Lambda = </a:t>
            </a:r>
            <a:r>
              <a:rPr lang="en-US" b="0" dirty="0"/>
              <a:t>Low cost service (Tiny functions that actually save the reservation or order details)</a:t>
            </a:r>
          </a:p>
          <a:p>
            <a:endParaRPr lang="en-US" b="1" dirty="0"/>
          </a:p>
          <a:p>
            <a:r>
              <a:rPr lang="en-US" b="1" dirty="0"/>
              <a:t>*DynamoDB = </a:t>
            </a:r>
            <a:r>
              <a:rPr lang="en-US" b="0" dirty="0"/>
              <a:t>Low cost service (The database that actually save the reservation or order details)</a:t>
            </a:r>
          </a:p>
          <a:p>
            <a:endParaRPr lang="en-US" b="1" dirty="0"/>
          </a:p>
          <a:p>
            <a:r>
              <a:rPr lang="en-US" b="1" dirty="0"/>
              <a:t>*Location Service = </a:t>
            </a:r>
            <a:r>
              <a:rPr lang="en-US" b="0" dirty="0"/>
              <a:t>Free service (Powers the Map on our site so people can find us)</a:t>
            </a:r>
          </a:p>
          <a:p>
            <a:endParaRPr lang="en-US" b="1" dirty="0"/>
          </a:p>
          <a:p>
            <a:r>
              <a:rPr lang="en-US" b="1" dirty="0"/>
              <a:t>*Cognito = </a:t>
            </a:r>
            <a:r>
              <a:rPr lang="en-US" b="0" dirty="0"/>
              <a:t>Free service (Handles login, sign-up and password resets for customers)</a:t>
            </a:r>
          </a:p>
          <a:p>
            <a:endParaRPr lang="en-US" b="1" dirty="0"/>
          </a:p>
          <a:p>
            <a:r>
              <a:rPr lang="en-US" b="1" dirty="0"/>
              <a:t>Total monthly bill: Only R540 – R630, a very cost-effective upgrade.</a:t>
            </a:r>
          </a:p>
          <a:p>
            <a:endParaRPr lang="en-US" b="1" dirty="0"/>
          </a:p>
          <a:p>
            <a:r>
              <a:rPr lang="en-US" b="1" dirty="0"/>
              <a:t>Bottom line: Using AWS lets us run a high-traffic site with bookings, maps and a loyalty program cheaply, while AWS handles the servers and upgrades, so we don’t have to.</a:t>
            </a:r>
          </a:p>
          <a:p>
            <a:endParaRPr lang="en-US" b="1" dirty="0"/>
          </a:p>
          <a:p>
            <a:r>
              <a:rPr lang="en-US" b="1" dirty="0"/>
              <a:t>Go to the next slide..</a:t>
            </a:r>
          </a:p>
          <a:p>
            <a:endParaRPr lang="en-US" b="1" dirty="0"/>
          </a:p>
          <a:p>
            <a:endParaRPr lang="en-US" b="1" dirty="0"/>
          </a:p>
          <a:p>
            <a:endParaRPr lang="en-US" b="1" dirty="0"/>
          </a:p>
          <a:p>
            <a:endParaRPr lang="en-ZA" dirty="0"/>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9</a:t>
            </a:fld>
            <a:endParaRPr lang="en-ZA"/>
          </a:p>
        </p:txBody>
      </p:sp>
    </p:spTree>
    <p:extLst>
      <p:ext uri="{BB962C8B-B14F-4D97-AF65-F5344CB8AC3E}">
        <p14:creationId xmlns:p14="http://schemas.microsoft.com/office/powerpoint/2010/main" val="1882892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Using Manual System VS AWS Migration</a:t>
            </a:r>
          </a:p>
          <a:p>
            <a:endParaRPr lang="en-US" b="1" dirty="0"/>
          </a:p>
          <a:p>
            <a:r>
              <a:rPr lang="en-US" b="1" dirty="0"/>
              <a:t>*Dramatic Difference:</a:t>
            </a:r>
            <a:r>
              <a:rPr lang="en-US" dirty="0"/>
              <a:t> Visually shows the difference between the manual system cost and the AWS cost.</a:t>
            </a:r>
          </a:p>
          <a:p>
            <a:endParaRPr lang="en-US" dirty="0"/>
          </a:p>
          <a:p>
            <a:r>
              <a:rPr lang="en-US" b="1" dirty="0"/>
              <a:t>*Old Cost:</a:t>
            </a:r>
            <a:r>
              <a:rPr lang="en-US" dirty="0"/>
              <a:t> The manual system cost was roughly </a:t>
            </a:r>
            <a:r>
              <a:rPr lang="en-US" b="1" dirty="0"/>
              <a:t>+R6,000 monthly</a:t>
            </a:r>
            <a:r>
              <a:rPr lang="en-US" dirty="0"/>
              <a:t>.</a:t>
            </a:r>
          </a:p>
          <a:p>
            <a:endParaRPr lang="en-US" dirty="0"/>
          </a:p>
          <a:p>
            <a:r>
              <a:rPr lang="en-US" b="1" dirty="0"/>
              <a:t>*New Cost:</a:t>
            </a:r>
            <a:r>
              <a:rPr lang="en-US" dirty="0"/>
              <a:t> The AWS migration costs are now only </a:t>
            </a:r>
            <a:r>
              <a:rPr lang="en-US" b="1" dirty="0"/>
              <a:t>~R540 – R630 monthly</a:t>
            </a:r>
            <a:r>
              <a:rPr lang="en-US" dirty="0"/>
              <a:t>.</a:t>
            </a:r>
          </a:p>
          <a:p>
            <a:r>
              <a:rPr lang="en-US" b="1" dirty="0"/>
              <a:t>Return On Investment:</a:t>
            </a:r>
            <a:r>
              <a:rPr lang="en-US" dirty="0"/>
              <a:t> This migration provides an immediate, massive return on investment(ROI).</a:t>
            </a:r>
          </a:p>
          <a:p>
            <a:endParaRPr lang="en-US" dirty="0"/>
          </a:p>
          <a:p>
            <a:r>
              <a:rPr lang="en-US" b="1" dirty="0"/>
              <a:t>Go to the next slides..</a:t>
            </a:r>
          </a:p>
          <a:p>
            <a:endParaRPr lang="en-ZA" dirty="0"/>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10</a:t>
            </a:fld>
            <a:endParaRPr lang="en-ZA"/>
          </a:p>
        </p:txBody>
      </p:sp>
    </p:spTree>
    <p:extLst>
      <p:ext uri="{BB962C8B-B14F-4D97-AF65-F5344CB8AC3E}">
        <p14:creationId xmlns:p14="http://schemas.microsoft.com/office/powerpoint/2010/main" val="1307884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Benefits of Moving to AWS:</a:t>
            </a:r>
          </a:p>
          <a:p>
            <a:endParaRPr lang="en-ZA" dirty="0"/>
          </a:p>
          <a:p>
            <a:r>
              <a:rPr lang="en-ZA" b="1" dirty="0"/>
              <a:t>Say this slowly as you </a:t>
            </a:r>
            <a:r>
              <a:rPr lang="en-ZA" b="1" dirty="0" err="1"/>
              <a:t>demonstrate..just</a:t>
            </a:r>
            <a:r>
              <a:rPr lang="en-ZA" b="1" dirty="0"/>
              <a:t> to give the audience to read further what is in there..</a:t>
            </a:r>
          </a:p>
          <a:p>
            <a:r>
              <a:rPr lang="en-ZA" dirty="0"/>
              <a:t>We considered the speed.., reliability.., security.., </a:t>
            </a:r>
            <a:r>
              <a:rPr lang="en-ZA" dirty="0" err="1"/>
              <a:t>scalality</a:t>
            </a:r>
            <a:r>
              <a:rPr lang="en-ZA" dirty="0"/>
              <a:t>.., cost control.., managed services.</a:t>
            </a:r>
          </a:p>
          <a:p>
            <a:endParaRPr lang="en-ZA" dirty="0"/>
          </a:p>
          <a:p>
            <a:r>
              <a:rPr lang="en-ZA" dirty="0"/>
              <a:t>Key Advantages-</a:t>
            </a:r>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*Speed: it Updates roll out in minutes, and not days. </a:t>
            </a:r>
          </a:p>
          <a:p>
            <a:endParaRPr lang="en-ZA" dirty="0"/>
          </a:p>
          <a:p>
            <a:r>
              <a:rPr lang="en-ZA" dirty="0"/>
              <a:t>*Reliability: </a:t>
            </a:r>
          </a:p>
          <a:p>
            <a:pPr marL="171450" indent="-171450">
              <a:buFontTx/>
              <a:buChar char="-"/>
            </a:pPr>
            <a:r>
              <a:rPr lang="en-ZA" dirty="0"/>
              <a:t>The system is 99.9% up(</a:t>
            </a:r>
            <a:r>
              <a:rPr lang="en-ZA" b="1" i="1" dirty="0"/>
              <a:t>pause a little</a:t>
            </a:r>
            <a:r>
              <a:rPr lang="en-ZA" dirty="0"/>
              <a:t>), it’s up and running most of the time (</a:t>
            </a:r>
            <a:r>
              <a:rPr lang="en-ZA" i="1" dirty="0"/>
              <a:t>only about 8 hours of downtime per year</a:t>
            </a:r>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t>
            </a:r>
            <a:r>
              <a:rPr lang="en-ZA" b="1" i="1" dirty="0"/>
              <a:t>pause a little in between</a:t>
            </a:r>
            <a:r>
              <a:rPr lang="en-ZA" dirty="0"/>
              <a:t>)</a:t>
            </a:r>
          </a:p>
          <a:p>
            <a:r>
              <a:rPr lang="en-ZA" dirty="0"/>
              <a:t>-Automatic failover, if something goes wrong, the system switches to a backup automatically so you don’t notice the problem </a:t>
            </a:r>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*Security: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-AWS manages patches(</a:t>
            </a:r>
            <a:r>
              <a:rPr lang="en-ZA" i="1" dirty="0"/>
              <a:t>they automatically apply software updates and fixes to keep the system secure</a:t>
            </a:r>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t>
            </a:r>
            <a:r>
              <a:rPr lang="en-ZA" b="1" i="1" dirty="0"/>
              <a:t>pause a little in between</a:t>
            </a:r>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-encryption(</a:t>
            </a:r>
            <a:r>
              <a:rPr lang="en-ZA" i="1" dirty="0"/>
              <a:t>data is scrambled so only authorized users can read it, both while it’s stored and while it’s moving</a:t>
            </a:r>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t>
            </a:r>
            <a:r>
              <a:rPr lang="en-ZA" b="1" i="1" dirty="0"/>
              <a:t>pause a little in between</a:t>
            </a:r>
            <a:r>
              <a:rPr lang="en-ZA"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-backups(they regularly copy your data to safe locations so you can restore it if something goes wrong).</a:t>
            </a:r>
          </a:p>
          <a:p>
            <a:endParaRPr lang="en-ZA" dirty="0"/>
          </a:p>
          <a:p>
            <a:r>
              <a:rPr lang="en-ZA" dirty="0"/>
              <a:t>*Scalability: We can handle peak nights and sudden spikes without buying new hardware, extra staff and new technology.</a:t>
            </a:r>
          </a:p>
          <a:p>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*Cost Control: We now use a pay-as-you-go model, resulting in a monthly bill of about R540-R630.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 </a:t>
            </a:r>
            <a:r>
              <a:rPr lang="en-ZA" b="1" dirty="0"/>
              <a:t>Ooh this is awesome guys!!(Giggle a little bit to show that we are excited as a business)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*Managed services: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-AWS handles the IT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-No server patching = we don’t have to apply software updates ourselves.</a:t>
            </a:r>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-Backups handled = they take care of saving copies of our data.</a:t>
            </a:r>
          </a:p>
          <a:p>
            <a:endParaRPr lang="en-ZA" dirty="0"/>
          </a:p>
          <a:p>
            <a:r>
              <a:rPr lang="en-ZA" b="1" dirty="0"/>
              <a:t>Go to the next slide for a conclusion..</a:t>
            </a:r>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11</a:t>
            </a:fld>
            <a:endParaRPr lang="en-ZA"/>
          </a:p>
        </p:txBody>
      </p:sp>
    </p:spTree>
    <p:extLst>
      <p:ext uri="{BB962C8B-B14F-4D97-AF65-F5344CB8AC3E}">
        <p14:creationId xmlns:p14="http://schemas.microsoft.com/office/powerpoint/2010/main" val="1685444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Conclusion:</a:t>
            </a:r>
          </a:p>
          <a:p>
            <a:endParaRPr lang="en-US" b="1" dirty="0"/>
          </a:p>
          <a:p>
            <a:r>
              <a:rPr lang="en-US" b="1" dirty="0"/>
              <a:t>*Final Summary:</a:t>
            </a:r>
            <a:r>
              <a:rPr lang="en-US" dirty="0"/>
              <a:t> We successfully moved from a manual paper-based system to AWS.</a:t>
            </a:r>
          </a:p>
          <a:p>
            <a:endParaRPr lang="en-US" dirty="0"/>
          </a:p>
          <a:p>
            <a:r>
              <a:rPr lang="en-US" b="1" dirty="0"/>
              <a:t>*Impact:</a:t>
            </a:r>
            <a:r>
              <a:rPr lang="en-US" dirty="0"/>
              <a:t> The monthly cost dropped from over R6,000 to about R540–R600.</a:t>
            </a:r>
          </a:p>
          <a:p>
            <a:endParaRPr lang="en-US" dirty="0"/>
          </a:p>
          <a:p>
            <a:pPr>
              <a:buFont typeface="Wingdings" panose="05000000000000000000" pitchFamily="2" charset="2"/>
              <a:buChar char="Ø"/>
            </a:pPr>
            <a:r>
              <a:rPr lang="en-US" dirty="0"/>
              <a:t>The system stays up 99.9 % of the time, even when we’re busy.</a:t>
            </a:r>
          </a:p>
          <a:p>
            <a:pPr>
              <a:buFont typeface="Wingdings" panose="05000000000000000000" pitchFamily="2" charset="2"/>
              <a:buChar char="Ø"/>
            </a:pPr>
            <a:r>
              <a:rPr lang="en-US" dirty="0"/>
              <a:t>We can add more power with just a click – no new hardware needed.</a:t>
            </a:r>
          </a:p>
          <a:p>
            <a:pPr>
              <a:buFont typeface="Wingdings" panose="05000000000000000000" pitchFamily="2" charset="2"/>
              <a:buChar char="Ø"/>
            </a:pPr>
            <a:r>
              <a:rPr lang="en-US" dirty="0"/>
              <a:t>AWS takes care of security patches and encryption, so we worry less about data breaches.</a:t>
            </a:r>
          </a:p>
          <a:p>
            <a:pPr>
              <a:buFont typeface="Wingdings" panose="05000000000000000000" pitchFamily="2" charset="2"/>
              <a:buChar char="Ø"/>
            </a:pPr>
            <a:r>
              <a:rPr lang="en-US" dirty="0"/>
              <a:t>Updates go live in minutes, not days, so we can improve the service quickly.</a:t>
            </a:r>
            <a:endParaRPr lang="en-ZA" dirty="0"/>
          </a:p>
          <a:p>
            <a:endParaRPr lang="en-US" dirty="0"/>
          </a:p>
          <a:p>
            <a:r>
              <a:rPr lang="en-US" b="1" dirty="0"/>
              <a:t>*The Bottom Line:</a:t>
            </a:r>
            <a:r>
              <a:rPr lang="en-US" dirty="0"/>
              <a:t> The cloud gives us a </a:t>
            </a:r>
            <a:r>
              <a:rPr lang="en-US" b="1" dirty="0"/>
              <a:t>cheaper, more reliable, and faster</a:t>
            </a:r>
            <a:r>
              <a:rPr lang="en-US" dirty="0"/>
              <a:t> way to run our business. It allows us to focus on </a:t>
            </a:r>
            <a:r>
              <a:rPr lang="en-US" b="1" dirty="0"/>
              <a:t>serving our customers</a:t>
            </a:r>
            <a:r>
              <a:rPr lang="en-US" dirty="0"/>
              <a:t> and our unique South African food, instead of fixing computers</a:t>
            </a:r>
          </a:p>
          <a:p>
            <a:endParaRPr lang="en-US" dirty="0"/>
          </a:p>
          <a:p>
            <a:r>
              <a:rPr lang="en-US" dirty="0"/>
              <a:t>Say: “Thank you”</a:t>
            </a:r>
          </a:p>
          <a:p>
            <a:endParaRPr lang="en-US" dirty="0"/>
          </a:p>
          <a:p>
            <a:r>
              <a:rPr lang="en-US" b="1" dirty="0"/>
              <a:t>Go to the next slide..</a:t>
            </a:r>
          </a:p>
          <a:p>
            <a:endParaRPr lang="en-US" b="1" dirty="0"/>
          </a:p>
          <a:p>
            <a:r>
              <a:rPr lang="en-US" dirty="0"/>
              <a:t>Miss Leah take over..</a:t>
            </a:r>
          </a:p>
          <a:p>
            <a:endParaRPr lang="en-US" dirty="0"/>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12</a:t>
            </a:fld>
            <a:endParaRPr lang="en-ZA"/>
          </a:p>
        </p:txBody>
      </p:sp>
    </p:spTree>
    <p:extLst>
      <p:ext uri="{BB962C8B-B14F-4D97-AF65-F5344CB8AC3E}">
        <p14:creationId xmlns:p14="http://schemas.microsoft.com/office/powerpoint/2010/main" val="4230701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&amp; Answers!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Leah: Thank you class, we now going to take questions and answers!!</a:t>
            </a:r>
          </a:p>
          <a:p>
            <a:endParaRPr lang="en-US" dirty="0"/>
          </a:p>
          <a:p>
            <a:r>
              <a:rPr lang="en-US" dirty="0"/>
              <a:t>(Open the floor for questions.) Lets all as a group listen and be ready to answer questions!!</a:t>
            </a:r>
          </a:p>
          <a:p>
            <a:endParaRPr lang="en-US" dirty="0"/>
          </a:p>
          <a:p>
            <a:endParaRPr lang="en-US" dirty="0"/>
          </a:p>
          <a:p>
            <a:r>
              <a:rPr lang="en-US" dirty="0"/>
              <a:t>This is for my Team mates..</a:t>
            </a:r>
          </a:p>
          <a:p>
            <a:endParaRPr lang="en-US" dirty="0"/>
          </a:p>
          <a:p>
            <a:r>
              <a:rPr lang="en-US" dirty="0"/>
              <a:t>I can’t thank you enough for how brilliantly we’ve been pulling together. From the late‑night crunch sessions to the instant support whenever anyone calls, you’ve turned sleepless nights into victories and made this team feel unstoppable. </a:t>
            </a:r>
          </a:p>
          <a:p>
            <a:endParaRPr lang="en-US" dirty="0"/>
          </a:p>
          <a:p>
            <a:r>
              <a:rPr lang="en-US" dirty="0" err="1"/>
              <a:t>Woow</a:t>
            </a:r>
            <a:r>
              <a:rPr lang="en-US" dirty="0"/>
              <a:t>—you’re a powerhouse crew, and I’m privileged to work side‑by‑side with such amazing mates! </a:t>
            </a:r>
          </a:p>
          <a:p>
            <a:endParaRPr lang="en-US" dirty="0"/>
          </a:p>
          <a:p>
            <a:r>
              <a:rPr lang="en-US" dirty="0"/>
              <a:t>🙌I personally worked well and learned a lot from you all, and for that, thank you.</a:t>
            </a:r>
          </a:p>
          <a:p>
            <a:endParaRPr lang="en-US"/>
          </a:p>
          <a:p>
            <a:r>
              <a:rPr lang="en-US"/>
              <a:t>Let’s </a:t>
            </a:r>
            <a:r>
              <a:rPr lang="en-US" dirty="0"/>
              <a:t>keep crushing it!</a:t>
            </a:r>
            <a:endParaRPr lang="en-ZA" dirty="0"/>
          </a:p>
        </p:txBody>
      </p:sp>
      <p:sp>
        <p:nvSpPr>
          <p:cNvPr id="4" name="Header Placeholder 3"/>
          <p:cNvSpPr>
            <a:spLocks noGrp="1"/>
          </p:cNvSpPr>
          <p:nvPr>
            <p:ph type="hdr" sz="quarter"/>
          </p:nvPr>
        </p:nvSpPr>
        <p:spPr/>
        <p:txBody>
          <a:bodyPr/>
          <a:lstStyle/>
          <a:p>
            <a:r>
              <a:rPr lang="en-ZA"/>
              <a:t>@MALLS – Moving to AWS</a:t>
            </a:r>
          </a:p>
        </p:txBody>
      </p:sp>
      <p:sp>
        <p:nvSpPr>
          <p:cNvPr id="5" name="Slide Number Placeholder 4"/>
          <p:cNvSpPr>
            <a:spLocks noGrp="1"/>
          </p:cNvSpPr>
          <p:nvPr>
            <p:ph type="sldNum" sz="quarter" idx="5"/>
          </p:nvPr>
        </p:nvSpPr>
        <p:spPr/>
        <p:txBody>
          <a:bodyPr/>
          <a:lstStyle/>
          <a:p>
            <a:fld id="{304A702A-59FF-4385-8A6C-4E9897BE2554}" type="slidenum">
              <a:rPr lang="en-ZA" smtClean="0"/>
              <a:t>13</a:t>
            </a:fld>
            <a:endParaRPr lang="en-ZA"/>
          </a:p>
        </p:txBody>
      </p:sp>
    </p:spTree>
    <p:extLst>
      <p:ext uri="{BB962C8B-B14F-4D97-AF65-F5344CB8AC3E}">
        <p14:creationId xmlns:p14="http://schemas.microsoft.com/office/powerpoint/2010/main" val="31884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479BC-FB9F-8A10-0AF9-07CB6BA8C5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C0506E42-E0A3-EBDD-6E37-9D2BAA808C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20840DAE-748B-116E-F4B5-9BB4568EAAF8}"/>
              </a:ext>
            </a:extLst>
          </p:cNvPr>
          <p:cNvSpPr>
            <a:spLocks noGrp="1"/>
          </p:cNvSpPr>
          <p:nvPr>
            <p:ph type="dt" sz="half" idx="10"/>
          </p:nvPr>
        </p:nvSpPr>
        <p:spPr/>
        <p:txBody>
          <a:bodyPr/>
          <a:lstStyle/>
          <a:p>
            <a:fld id="{04E2B6CB-8AEF-4AB1-96B2-2500B343BBC8}" type="datetime1">
              <a:rPr lang="en-ZA" smtClean="0"/>
              <a:t>2025/11/17</a:t>
            </a:fld>
            <a:endParaRPr lang="en-ZA"/>
          </a:p>
        </p:txBody>
      </p:sp>
      <p:sp>
        <p:nvSpPr>
          <p:cNvPr id="5" name="Footer Placeholder 4">
            <a:extLst>
              <a:ext uri="{FF2B5EF4-FFF2-40B4-BE49-F238E27FC236}">
                <a16:creationId xmlns:a16="http://schemas.microsoft.com/office/drawing/2014/main" id="{AF492B38-9D40-4040-C33B-2053D9186B62}"/>
              </a:ext>
            </a:extLst>
          </p:cNvPr>
          <p:cNvSpPr>
            <a:spLocks noGrp="1"/>
          </p:cNvSpPr>
          <p:nvPr>
            <p:ph type="ftr" sz="quarter" idx="11"/>
          </p:nvPr>
        </p:nvSpPr>
        <p:spPr/>
        <p:txBody>
          <a:bodyPr/>
          <a:lstStyle/>
          <a:p>
            <a:r>
              <a:rPr lang="en-ZA"/>
              <a:t>Manual vs AWS Migration</a:t>
            </a:r>
          </a:p>
        </p:txBody>
      </p:sp>
      <p:sp>
        <p:nvSpPr>
          <p:cNvPr id="6" name="Slide Number Placeholder 5">
            <a:extLst>
              <a:ext uri="{FF2B5EF4-FFF2-40B4-BE49-F238E27FC236}">
                <a16:creationId xmlns:a16="http://schemas.microsoft.com/office/drawing/2014/main" id="{808765F7-6A94-A78B-8A94-3FC9BC22186C}"/>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4008351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5159D-E145-34BA-1022-90CC08E1F96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1AC02D0-0AFE-A301-B440-71386AC2E7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9DEAA78-D33E-2087-FC3C-B92CFB968709}"/>
              </a:ext>
            </a:extLst>
          </p:cNvPr>
          <p:cNvSpPr>
            <a:spLocks noGrp="1"/>
          </p:cNvSpPr>
          <p:nvPr>
            <p:ph type="dt" sz="half" idx="10"/>
          </p:nvPr>
        </p:nvSpPr>
        <p:spPr/>
        <p:txBody>
          <a:bodyPr/>
          <a:lstStyle/>
          <a:p>
            <a:fld id="{F2656A51-2FD4-41A9-9B56-FDDD38FED8F9}" type="datetime1">
              <a:rPr lang="en-ZA" smtClean="0"/>
              <a:t>2025/11/17</a:t>
            </a:fld>
            <a:endParaRPr lang="en-ZA"/>
          </a:p>
        </p:txBody>
      </p:sp>
      <p:sp>
        <p:nvSpPr>
          <p:cNvPr id="5" name="Footer Placeholder 4">
            <a:extLst>
              <a:ext uri="{FF2B5EF4-FFF2-40B4-BE49-F238E27FC236}">
                <a16:creationId xmlns:a16="http://schemas.microsoft.com/office/drawing/2014/main" id="{62D0BA1C-4903-327B-50B8-3253719DEC5B}"/>
              </a:ext>
            </a:extLst>
          </p:cNvPr>
          <p:cNvSpPr>
            <a:spLocks noGrp="1"/>
          </p:cNvSpPr>
          <p:nvPr>
            <p:ph type="ftr" sz="quarter" idx="11"/>
          </p:nvPr>
        </p:nvSpPr>
        <p:spPr/>
        <p:txBody>
          <a:bodyPr/>
          <a:lstStyle/>
          <a:p>
            <a:r>
              <a:rPr lang="en-ZA"/>
              <a:t>Manual vs AWS Migration</a:t>
            </a:r>
          </a:p>
        </p:txBody>
      </p:sp>
      <p:sp>
        <p:nvSpPr>
          <p:cNvPr id="6" name="Slide Number Placeholder 5">
            <a:extLst>
              <a:ext uri="{FF2B5EF4-FFF2-40B4-BE49-F238E27FC236}">
                <a16:creationId xmlns:a16="http://schemas.microsoft.com/office/drawing/2014/main" id="{CD1C04B4-969F-8F30-B962-1CF411B1F11B}"/>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421051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53772-9922-AA8D-0250-04F5B0E82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96D20C8D-5F49-E52A-58D5-60B0D5C952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F706D7-68D2-908D-B0DF-9B52AD1C9F47}"/>
              </a:ext>
            </a:extLst>
          </p:cNvPr>
          <p:cNvSpPr>
            <a:spLocks noGrp="1"/>
          </p:cNvSpPr>
          <p:nvPr>
            <p:ph type="dt" sz="half" idx="10"/>
          </p:nvPr>
        </p:nvSpPr>
        <p:spPr/>
        <p:txBody>
          <a:bodyPr/>
          <a:lstStyle/>
          <a:p>
            <a:fld id="{F7495A4B-3666-4AF9-9CFA-F6A0B4E31450}" type="datetime1">
              <a:rPr lang="en-ZA" smtClean="0"/>
              <a:t>2025/11/17</a:t>
            </a:fld>
            <a:endParaRPr lang="en-ZA"/>
          </a:p>
        </p:txBody>
      </p:sp>
      <p:sp>
        <p:nvSpPr>
          <p:cNvPr id="5" name="Footer Placeholder 4">
            <a:extLst>
              <a:ext uri="{FF2B5EF4-FFF2-40B4-BE49-F238E27FC236}">
                <a16:creationId xmlns:a16="http://schemas.microsoft.com/office/drawing/2014/main" id="{6AE471ED-FD8B-21BD-4FC1-983B2253C396}"/>
              </a:ext>
            </a:extLst>
          </p:cNvPr>
          <p:cNvSpPr>
            <a:spLocks noGrp="1"/>
          </p:cNvSpPr>
          <p:nvPr>
            <p:ph type="ftr" sz="quarter" idx="11"/>
          </p:nvPr>
        </p:nvSpPr>
        <p:spPr/>
        <p:txBody>
          <a:bodyPr/>
          <a:lstStyle/>
          <a:p>
            <a:r>
              <a:rPr lang="en-ZA"/>
              <a:t>Manual vs AWS Migration</a:t>
            </a:r>
          </a:p>
        </p:txBody>
      </p:sp>
      <p:sp>
        <p:nvSpPr>
          <p:cNvPr id="6" name="Slide Number Placeholder 5">
            <a:extLst>
              <a:ext uri="{FF2B5EF4-FFF2-40B4-BE49-F238E27FC236}">
                <a16:creationId xmlns:a16="http://schemas.microsoft.com/office/drawing/2014/main" id="{6C86DFA3-8DBD-08C3-9780-A031DDB269CE}"/>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30626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F187B-0A9C-175A-0CCA-50B0AE6FF53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1D7136E-FDF1-FC04-12C6-21A047DC6E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0A961575-3901-E75B-2DF0-73EC16313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3D715B0C-7E51-CCFE-3702-C44AAE40E5A0}"/>
              </a:ext>
            </a:extLst>
          </p:cNvPr>
          <p:cNvSpPr>
            <a:spLocks noGrp="1"/>
          </p:cNvSpPr>
          <p:nvPr>
            <p:ph type="dt" sz="half" idx="10"/>
          </p:nvPr>
        </p:nvSpPr>
        <p:spPr/>
        <p:txBody>
          <a:bodyPr/>
          <a:lstStyle/>
          <a:p>
            <a:fld id="{C64EAF80-33F7-4E95-8C2B-37C42EDE094E}" type="datetime1">
              <a:rPr lang="en-ZA" smtClean="0"/>
              <a:t>2025/11/17</a:t>
            </a:fld>
            <a:endParaRPr lang="en-ZA"/>
          </a:p>
        </p:txBody>
      </p:sp>
      <p:sp>
        <p:nvSpPr>
          <p:cNvPr id="6" name="Footer Placeholder 5">
            <a:extLst>
              <a:ext uri="{FF2B5EF4-FFF2-40B4-BE49-F238E27FC236}">
                <a16:creationId xmlns:a16="http://schemas.microsoft.com/office/drawing/2014/main" id="{18AF577B-FCED-CEF5-5E44-DA202EE53F70}"/>
              </a:ext>
            </a:extLst>
          </p:cNvPr>
          <p:cNvSpPr>
            <a:spLocks noGrp="1"/>
          </p:cNvSpPr>
          <p:nvPr>
            <p:ph type="ftr" sz="quarter" idx="11"/>
          </p:nvPr>
        </p:nvSpPr>
        <p:spPr/>
        <p:txBody>
          <a:bodyPr/>
          <a:lstStyle/>
          <a:p>
            <a:r>
              <a:rPr lang="en-ZA"/>
              <a:t>Manual vs AWS Migration</a:t>
            </a:r>
          </a:p>
        </p:txBody>
      </p:sp>
      <p:sp>
        <p:nvSpPr>
          <p:cNvPr id="7" name="Slide Number Placeholder 6">
            <a:extLst>
              <a:ext uri="{FF2B5EF4-FFF2-40B4-BE49-F238E27FC236}">
                <a16:creationId xmlns:a16="http://schemas.microsoft.com/office/drawing/2014/main" id="{CEACA7E8-6BB8-9B15-A1E1-B6AB96C68BAC}"/>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89123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8EB45-CC33-935D-D225-C449C2C818DD}"/>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C5ABA8E-AADA-B8DB-7445-6467572C77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D6E5FA-0101-6DC3-B0D7-DA14C07A41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8C0A471E-7959-C065-B87A-FDA162256B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CA79AE-7A6C-5B15-6479-EE64A99E1B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1DC8A382-A5AB-9709-CBB5-7DCE1C987846}"/>
              </a:ext>
            </a:extLst>
          </p:cNvPr>
          <p:cNvSpPr>
            <a:spLocks noGrp="1"/>
          </p:cNvSpPr>
          <p:nvPr>
            <p:ph type="dt" sz="half" idx="10"/>
          </p:nvPr>
        </p:nvSpPr>
        <p:spPr/>
        <p:txBody>
          <a:bodyPr/>
          <a:lstStyle/>
          <a:p>
            <a:fld id="{A88754E8-4486-4207-8AAD-49AD9585454E}" type="datetime1">
              <a:rPr lang="en-ZA" smtClean="0"/>
              <a:t>2025/11/17</a:t>
            </a:fld>
            <a:endParaRPr lang="en-ZA"/>
          </a:p>
        </p:txBody>
      </p:sp>
      <p:sp>
        <p:nvSpPr>
          <p:cNvPr id="8" name="Footer Placeholder 7">
            <a:extLst>
              <a:ext uri="{FF2B5EF4-FFF2-40B4-BE49-F238E27FC236}">
                <a16:creationId xmlns:a16="http://schemas.microsoft.com/office/drawing/2014/main" id="{71729B1D-B434-A97C-4787-E394F452B4A7}"/>
              </a:ext>
            </a:extLst>
          </p:cNvPr>
          <p:cNvSpPr>
            <a:spLocks noGrp="1"/>
          </p:cNvSpPr>
          <p:nvPr>
            <p:ph type="ftr" sz="quarter" idx="11"/>
          </p:nvPr>
        </p:nvSpPr>
        <p:spPr/>
        <p:txBody>
          <a:bodyPr/>
          <a:lstStyle/>
          <a:p>
            <a:r>
              <a:rPr lang="en-ZA"/>
              <a:t>Manual vs AWS Migration</a:t>
            </a:r>
          </a:p>
        </p:txBody>
      </p:sp>
      <p:sp>
        <p:nvSpPr>
          <p:cNvPr id="9" name="Slide Number Placeholder 8">
            <a:extLst>
              <a:ext uri="{FF2B5EF4-FFF2-40B4-BE49-F238E27FC236}">
                <a16:creationId xmlns:a16="http://schemas.microsoft.com/office/drawing/2014/main" id="{1E0C373F-867D-4042-BC02-CF529731A14F}"/>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301394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3BD7F-2ED9-516B-800C-1FF236D332EA}"/>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DA2DAC05-C71F-106C-B45E-0FBBA0C90DC6}"/>
              </a:ext>
            </a:extLst>
          </p:cNvPr>
          <p:cNvSpPr>
            <a:spLocks noGrp="1"/>
          </p:cNvSpPr>
          <p:nvPr>
            <p:ph type="dt" sz="half" idx="10"/>
          </p:nvPr>
        </p:nvSpPr>
        <p:spPr/>
        <p:txBody>
          <a:bodyPr/>
          <a:lstStyle/>
          <a:p>
            <a:fld id="{BFCDF8A0-4DA5-47FF-A382-C5E6D7786420}" type="datetime1">
              <a:rPr lang="en-ZA" smtClean="0"/>
              <a:t>2025/11/17</a:t>
            </a:fld>
            <a:endParaRPr lang="en-ZA"/>
          </a:p>
        </p:txBody>
      </p:sp>
      <p:sp>
        <p:nvSpPr>
          <p:cNvPr id="4" name="Footer Placeholder 3">
            <a:extLst>
              <a:ext uri="{FF2B5EF4-FFF2-40B4-BE49-F238E27FC236}">
                <a16:creationId xmlns:a16="http://schemas.microsoft.com/office/drawing/2014/main" id="{1CD5CB89-1FB8-23C8-C071-11F566C31D2F}"/>
              </a:ext>
            </a:extLst>
          </p:cNvPr>
          <p:cNvSpPr>
            <a:spLocks noGrp="1"/>
          </p:cNvSpPr>
          <p:nvPr>
            <p:ph type="ftr" sz="quarter" idx="11"/>
          </p:nvPr>
        </p:nvSpPr>
        <p:spPr/>
        <p:txBody>
          <a:bodyPr/>
          <a:lstStyle/>
          <a:p>
            <a:r>
              <a:rPr lang="en-ZA"/>
              <a:t>Manual vs AWS Migration</a:t>
            </a:r>
          </a:p>
        </p:txBody>
      </p:sp>
      <p:sp>
        <p:nvSpPr>
          <p:cNvPr id="5" name="Slide Number Placeholder 4">
            <a:extLst>
              <a:ext uri="{FF2B5EF4-FFF2-40B4-BE49-F238E27FC236}">
                <a16:creationId xmlns:a16="http://schemas.microsoft.com/office/drawing/2014/main" id="{FA6B33B6-8C8B-E869-05E7-BF177086F741}"/>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2234620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721523-D943-09E1-B3A0-9E65602B5926}"/>
              </a:ext>
            </a:extLst>
          </p:cNvPr>
          <p:cNvSpPr>
            <a:spLocks noGrp="1"/>
          </p:cNvSpPr>
          <p:nvPr>
            <p:ph type="dt" sz="half" idx="10"/>
          </p:nvPr>
        </p:nvSpPr>
        <p:spPr/>
        <p:txBody>
          <a:bodyPr/>
          <a:lstStyle/>
          <a:p>
            <a:fld id="{5A048CC5-3BDD-4FF2-A65F-8391A7974C8F}" type="datetime1">
              <a:rPr lang="en-ZA" smtClean="0"/>
              <a:t>2025/11/17</a:t>
            </a:fld>
            <a:endParaRPr lang="en-ZA"/>
          </a:p>
        </p:txBody>
      </p:sp>
      <p:sp>
        <p:nvSpPr>
          <p:cNvPr id="3" name="Footer Placeholder 2">
            <a:extLst>
              <a:ext uri="{FF2B5EF4-FFF2-40B4-BE49-F238E27FC236}">
                <a16:creationId xmlns:a16="http://schemas.microsoft.com/office/drawing/2014/main" id="{B3ACFCA9-AC93-948E-BE02-DA78E77A45A0}"/>
              </a:ext>
            </a:extLst>
          </p:cNvPr>
          <p:cNvSpPr>
            <a:spLocks noGrp="1"/>
          </p:cNvSpPr>
          <p:nvPr>
            <p:ph type="ftr" sz="quarter" idx="11"/>
          </p:nvPr>
        </p:nvSpPr>
        <p:spPr/>
        <p:txBody>
          <a:bodyPr/>
          <a:lstStyle/>
          <a:p>
            <a:r>
              <a:rPr lang="en-ZA"/>
              <a:t>Manual vs AWS Migration</a:t>
            </a:r>
          </a:p>
        </p:txBody>
      </p:sp>
      <p:sp>
        <p:nvSpPr>
          <p:cNvPr id="4" name="Slide Number Placeholder 3">
            <a:extLst>
              <a:ext uri="{FF2B5EF4-FFF2-40B4-BE49-F238E27FC236}">
                <a16:creationId xmlns:a16="http://schemas.microsoft.com/office/drawing/2014/main" id="{F6317300-63AF-E45D-6F6B-35A99DAF69B7}"/>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1499851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205DB-BC94-BF32-5370-96A91F883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7BEE660-A573-E3D2-065D-325EF927EA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8FAF5C1-FCF9-CA23-4086-C0AFA01030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DC968A-C64F-233F-244E-FCDF07E75703}"/>
              </a:ext>
            </a:extLst>
          </p:cNvPr>
          <p:cNvSpPr>
            <a:spLocks noGrp="1"/>
          </p:cNvSpPr>
          <p:nvPr>
            <p:ph type="dt" sz="half" idx="10"/>
          </p:nvPr>
        </p:nvSpPr>
        <p:spPr/>
        <p:txBody>
          <a:bodyPr/>
          <a:lstStyle/>
          <a:p>
            <a:fld id="{5F8DB9EE-C703-4D4B-9A71-6CD068AD7203}" type="datetime1">
              <a:rPr lang="en-ZA" smtClean="0"/>
              <a:t>2025/11/17</a:t>
            </a:fld>
            <a:endParaRPr lang="en-ZA"/>
          </a:p>
        </p:txBody>
      </p:sp>
      <p:sp>
        <p:nvSpPr>
          <p:cNvPr id="6" name="Footer Placeholder 5">
            <a:extLst>
              <a:ext uri="{FF2B5EF4-FFF2-40B4-BE49-F238E27FC236}">
                <a16:creationId xmlns:a16="http://schemas.microsoft.com/office/drawing/2014/main" id="{F8774A0A-F46E-FEBC-E7E4-F8196152F72B}"/>
              </a:ext>
            </a:extLst>
          </p:cNvPr>
          <p:cNvSpPr>
            <a:spLocks noGrp="1"/>
          </p:cNvSpPr>
          <p:nvPr>
            <p:ph type="ftr" sz="quarter" idx="11"/>
          </p:nvPr>
        </p:nvSpPr>
        <p:spPr/>
        <p:txBody>
          <a:bodyPr/>
          <a:lstStyle/>
          <a:p>
            <a:r>
              <a:rPr lang="en-ZA"/>
              <a:t>Manual vs AWS Migration</a:t>
            </a:r>
          </a:p>
        </p:txBody>
      </p:sp>
      <p:sp>
        <p:nvSpPr>
          <p:cNvPr id="7" name="Slide Number Placeholder 6">
            <a:extLst>
              <a:ext uri="{FF2B5EF4-FFF2-40B4-BE49-F238E27FC236}">
                <a16:creationId xmlns:a16="http://schemas.microsoft.com/office/drawing/2014/main" id="{1152FB3E-9B33-F5DE-1F40-7037093B82DD}"/>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3680013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E8FDD-B670-173C-0B2B-DE78E7F749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504955DA-0913-DC99-099C-85EC2D6D33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7579D59E-696D-F795-A6D9-B75CCCE22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ECB39D-1F4F-B316-426D-3FECFFA5E8D5}"/>
              </a:ext>
            </a:extLst>
          </p:cNvPr>
          <p:cNvSpPr>
            <a:spLocks noGrp="1"/>
          </p:cNvSpPr>
          <p:nvPr>
            <p:ph type="dt" sz="half" idx="10"/>
          </p:nvPr>
        </p:nvSpPr>
        <p:spPr/>
        <p:txBody>
          <a:bodyPr/>
          <a:lstStyle/>
          <a:p>
            <a:fld id="{51B6ED68-8954-40A9-A93E-BDF0F658C139}" type="datetime1">
              <a:rPr lang="en-ZA" smtClean="0"/>
              <a:t>2025/11/17</a:t>
            </a:fld>
            <a:endParaRPr lang="en-ZA"/>
          </a:p>
        </p:txBody>
      </p:sp>
      <p:sp>
        <p:nvSpPr>
          <p:cNvPr id="6" name="Footer Placeholder 5">
            <a:extLst>
              <a:ext uri="{FF2B5EF4-FFF2-40B4-BE49-F238E27FC236}">
                <a16:creationId xmlns:a16="http://schemas.microsoft.com/office/drawing/2014/main" id="{F72569DD-DD79-D231-F0D4-5D12B0E62609}"/>
              </a:ext>
            </a:extLst>
          </p:cNvPr>
          <p:cNvSpPr>
            <a:spLocks noGrp="1"/>
          </p:cNvSpPr>
          <p:nvPr>
            <p:ph type="ftr" sz="quarter" idx="11"/>
          </p:nvPr>
        </p:nvSpPr>
        <p:spPr/>
        <p:txBody>
          <a:bodyPr/>
          <a:lstStyle/>
          <a:p>
            <a:r>
              <a:rPr lang="en-ZA"/>
              <a:t>Manual vs AWS Migration</a:t>
            </a:r>
          </a:p>
        </p:txBody>
      </p:sp>
      <p:sp>
        <p:nvSpPr>
          <p:cNvPr id="7" name="Slide Number Placeholder 6">
            <a:extLst>
              <a:ext uri="{FF2B5EF4-FFF2-40B4-BE49-F238E27FC236}">
                <a16:creationId xmlns:a16="http://schemas.microsoft.com/office/drawing/2014/main" id="{F9BFADA6-4264-6B8C-BC23-C8ED8EE68EA5}"/>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2122556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15A0-AC35-3DC0-61AB-C988278CC36E}"/>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40070F8-9AFD-4E13-11B8-6963B98919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3F814A3-3259-34FB-3937-6947F941C0F2}"/>
              </a:ext>
            </a:extLst>
          </p:cNvPr>
          <p:cNvSpPr>
            <a:spLocks noGrp="1"/>
          </p:cNvSpPr>
          <p:nvPr>
            <p:ph type="dt" sz="half" idx="10"/>
          </p:nvPr>
        </p:nvSpPr>
        <p:spPr/>
        <p:txBody>
          <a:bodyPr/>
          <a:lstStyle/>
          <a:p>
            <a:fld id="{5D4BB295-21D7-4E7C-BCF7-6E7783FC1167}" type="datetime1">
              <a:rPr lang="en-ZA" smtClean="0"/>
              <a:t>2025/11/17</a:t>
            </a:fld>
            <a:endParaRPr lang="en-ZA"/>
          </a:p>
        </p:txBody>
      </p:sp>
      <p:sp>
        <p:nvSpPr>
          <p:cNvPr id="5" name="Footer Placeholder 4">
            <a:extLst>
              <a:ext uri="{FF2B5EF4-FFF2-40B4-BE49-F238E27FC236}">
                <a16:creationId xmlns:a16="http://schemas.microsoft.com/office/drawing/2014/main" id="{35E73983-8990-691B-EC0C-52B2415ABDB7}"/>
              </a:ext>
            </a:extLst>
          </p:cNvPr>
          <p:cNvSpPr>
            <a:spLocks noGrp="1"/>
          </p:cNvSpPr>
          <p:nvPr>
            <p:ph type="ftr" sz="quarter" idx="11"/>
          </p:nvPr>
        </p:nvSpPr>
        <p:spPr/>
        <p:txBody>
          <a:bodyPr/>
          <a:lstStyle/>
          <a:p>
            <a:r>
              <a:rPr lang="en-ZA"/>
              <a:t>Manual vs AWS Migration</a:t>
            </a:r>
          </a:p>
        </p:txBody>
      </p:sp>
      <p:sp>
        <p:nvSpPr>
          <p:cNvPr id="6" name="Slide Number Placeholder 5">
            <a:extLst>
              <a:ext uri="{FF2B5EF4-FFF2-40B4-BE49-F238E27FC236}">
                <a16:creationId xmlns:a16="http://schemas.microsoft.com/office/drawing/2014/main" id="{0C617A49-334E-9CA6-5F18-DE95A68D60B9}"/>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4012036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75D07B-FE1E-DA37-95B8-DD148CC123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2DA2640-61CB-2B63-4972-3ADE100C4F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4A4055C-9A94-27AE-E1D9-1181983C4449}"/>
              </a:ext>
            </a:extLst>
          </p:cNvPr>
          <p:cNvSpPr>
            <a:spLocks noGrp="1"/>
          </p:cNvSpPr>
          <p:nvPr>
            <p:ph type="dt" sz="half" idx="10"/>
          </p:nvPr>
        </p:nvSpPr>
        <p:spPr/>
        <p:txBody>
          <a:bodyPr/>
          <a:lstStyle/>
          <a:p>
            <a:fld id="{EB3C143B-2A46-4990-A78C-81A6AB9A160F}" type="datetime1">
              <a:rPr lang="en-ZA" smtClean="0"/>
              <a:t>2025/11/17</a:t>
            </a:fld>
            <a:endParaRPr lang="en-ZA"/>
          </a:p>
        </p:txBody>
      </p:sp>
      <p:sp>
        <p:nvSpPr>
          <p:cNvPr id="5" name="Footer Placeholder 4">
            <a:extLst>
              <a:ext uri="{FF2B5EF4-FFF2-40B4-BE49-F238E27FC236}">
                <a16:creationId xmlns:a16="http://schemas.microsoft.com/office/drawing/2014/main" id="{2EFF4EBF-D146-B880-541A-2772644B9B78}"/>
              </a:ext>
            </a:extLst>
          </p:cNvPr>
          <p:cNvSpPr>
            <a:spLocks noGrp="1"/>
          </p:cNvSpPr>
          <p:nvPr>
            <p:ph type="ftr" sz="quarter" idx="11"/>
          </p:nvPr>
        </p:nvSpPr>
        <p:spPr/>
        <p:txBody>
          <a:bodyPr/>
          <a:lstStyle/>
          <a:p>
            <a:r>
              <a:rPr lang="en-ZA"/>
              <a:t>Manual vs AWS Migration</a:t>
            </a:r>
          </a:p>
        </p:txBody>
      </p:sp>
      <p:sp>
        <p:nvSpPr>
          <p:cNvPr id="6" name="Slide Number Placeholder 5">
            <a:extLst>
              <a:ext uri="{FF2B5EF4-FFF2-40B4-BE49-F238E27FC236}">
                <a16:creationId xmlns:a16="http://schemas.microsoft.com/office/drawing/2014/main" id="{1531EE71-6731-5B29-EFC2-D6958F14B724}"/>
              </a:ext>
            </a:extLst>
          </p:cNvPr>
          <p:cNvSpPr>
            <a:spLocks noGrp="1"/>
          </p:cNvSpPr>
          <p:nvPr>
            <p:ph type="sldNum" sz="quarter" idx="12"/>
          </p:nvPr>
        </p:nvSpPr>
        <p:spPr/>
        <p:txBody>
          <a:bodyPr/>
          <a:lstStyle/>
          <a:p>
            <a:fld id="{15BB2F74-E843-4E4A-AEB2-D2C26A532EC9}" type="slidenum">
              <a:rPr lang="en-ZA" smtClean="0"/>
              <a:t>‹#›</a:t>
            </a:fld>
            <a:endParaRPr lang="en-ZA"/>
          </a:p>
        </p:txBody>
      </p:sp>
    </p:spTree>
    <p:extLst>
      <p:ext uri="{BB962C8B-B14F-4D97-AF65-F5344CB8AC3E}">
        <p14:creationId xmlns:p14="http://schemas.microsoft.com/office/powerpoint/2010/main" val="2254568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2CD057-770F-74E0-1067-147F198EC7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6A5ADDA-4E07-1A49-FBB1-EBD2D0D306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E20F656-2460-42E4-C254-2740103D7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15F19-65CD-4347-90C5-AE98F93AF019}" type="datetime1">
              <a:rPr lang="en-ZA" smtClean="0"/>
              <a:t>2025/11/17</a:t>
            </a:fld>
            <a:endParaRPr lang="en-ZA"/>
          </a:p>
        </p:txBody>
      </p:sp>
      <p:sp>
        <p:nvSpPr>
          <p:cNvPr id="5" name="Footer Placeholder 4">
            <a:extLst>
              <a:ext uri="{FF2B5EF4-FFF2-40B4-BE49-F238E27FC236}">
                <a16:creationId xmlns:a16="http://schemas.microsoft.com/office/drawing/2014/main" id="{F62F3C6E-24D0-4B4E-A123-609121897A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ZA"/>
              <a:t>Manual vs AWS Migration</a:t>
            </a:r>
          </a:p>
        </p:txBody>
      </p:sp>
      <p:sp>
        <p:nvSpPr>
          <p:cNvPr id="6" name="Slide Number Placeholder 5">
            <a:extLst>
              <a:ext uri="{FF2B5EF4-FFF2-40B4-BE49-F238E27FC236}">
                <a16:creationId xmlns:a16="http://schemas.microsoft.com/office/drawing/2014/main" id="{86867482-7F4B-2870-E0A4-6BD4788C08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B2F74-E843-4E4A-AEB2-D2C26A532EC9}" type="slidenum">
              <a:rPr lang="en-ZA" smtClean="0"/>
              <a:t>‹#›</a:t>
            </a:fld>
            <a:endParaRPr lang="en-ZA"/>
          </a:p>
        </p:txBody>
      </p:sp>
    </p:spTree>
    <p:extLst>
      <p:ext uri="{BB962C8B-B14F-4D97-AF65-F5344CB8AC3E}">
        <p14:creationId xmlns:p14="http://schemas.microsoft.com/office/powerpoint/2010/main" val="1848745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54E53-C028-1504-0CBF-33398EAFF260}"/>
              </a:ext>
            </a:extLst>
          </p:cNvPr>
          <p:cNvSpPr>
            <a:spLocks noGrp="1"/>
          </p:cNvSpPr>
          <p:nvPr>
            <p:ph type="title"/>
          </p:nvPr>
        </p:nvSpPr>
        <p:spPr>
          <a:xfrm>
            <a:off x="627888" y="338327"/>
            <a:ext cx="10515600" cy="1656376"/>
          </a:xfrm>
        </p:spPr>
        <p:txBody>
          <a:bodyPr>
            <a:normAutofit fontScale="90000"/>
          </a:bodyPr>
          <a:lstStyle/>
          <a:p>
            <a:pPr algn="ctr"/>
            <a:br>
              <a:rPr lang="en-ZA" b="1" dirty="0">
                <a:effectLst>
                  <a:outerShdw blurRad="38100" dist="38100" dir="2700000" algn="tl">
                    <a:srgbClr val="000000">
                      <a:alpha val="43137"/>
                    </a:srgbClr>
                  </a:outerShdw>
                </a:effectLst>
              </a:rPr>
            </a:br>
            <a:r>
              <a:rPr lang="en-ZA" sz="8900" b="1" i="1" dirty="0">
                <a:effectLst>
                  <a:outerShdw blurRad="38100" dist="38100" dir="2700000" algn="tl">
                    <a:srgbClr val="000000">
                      <a:alpha val="43137"/>
                    </a:srgbClr>
                  </a:outerShdw>
                </a:effectLst>
              </a:rPr>
              <a:t>@MALLS</a:t>
            </a:r>
            <a:br>
              <a:rPr lang="en-ZA" b="1" dirty="0">
                <a:effectLst>
                  <a:outerShdw blurRad="38100" dist="38100" dir="2700000" algn="tl">
                    <a:srgbClr val="000000">
                      <a:alpha val="43137"/>
                    </a:srgbClr>
                  </a:outerShdw>
                </a:effectLst>
              </a:rPr>
            </a:br>
            <a:r>
              <a:rPr lang="en-ZA" sz="3100" dirty="0"/>
              <a:t>“</a:t>
            </a:r>
            <a:r>
              <a:rPr lang="en-ZA" sz="3100" b="1" i="1" dirty="0">
                <a:effectLst>
                  <a:outerShdw blurRad="38100" dist="38100" dir="2700000" algn="tl">
                    <a:srgbClr val="000000">
                      <a:alpha val="43137"/>
                    </a:srgbClr>
                  </a:outerShdw>
                </a:effectLst>
              </a:rPr>
              <a:t>Africa's finest roots</a:t>
            </a:r>
            <a:r>
              <a:rPr lang="en-ZA" sz="3100" b="1" dirty="0">
                <a:effectLst>
                  <a:outerShdw blurRad="38100" dist="38100" dir="2700000" algn="tl">
                    <a:srgbClr val="000000">
                      <a:alpha val="43137"/>
                    </a:srgbClr>
                  </a:outerShdw>
                </a:effectLst>
              </a:rPr>
              <a:t>”</a:t>
            </a:r>
            <a:br>
              <a:rPr lang="en-ZA" dirty="0"/>
            </a:br>
            <a:endParaRPr lang="en-ZA" dirty="0"/>
          </a:p>
        </p:txBody>
      </p:sp>
      <p:sp>
        <p:nvSpPr>
          <p:cNvPr id="3" name="Date Placeholder 2">
            <a:extLst>
              <a:ext uri="{FF2B5EF4-FFF2-40B4-BE49-F238E27FC236}">
                <a16:creationId xmlns:a16="http://schemas.microsoft.com/office/drawing/2014/main" id="{6DD53D06-C98A-934F-32C8-6EFB8ABCFD69}"/>
              </a:ext>
            </a:extLst>
          </p:cNvPr>
          <p:cNvSpPr>
            <a:spLocks noGrp="1"/>
          </p:cNvSpPr>
          <p:nvPr>
            <p:ph type="dt" sz="half" idx="10"/>
          </p:nvPr>
        </p:nvSpPr>
        <p:spPr/>
        <p:txBody>
          <a:bodyPr/>
          <a:lstStyle/>
          <a:p>
            <a:fld id="{BE3580AC-9482-4F14-964D-B4C8874B4FC1}" type="datetime1">
              <a:rPr lang="en-ZA" smtClean="0"/>
              <a:t>2025/11/17</a:t>
            </a:fld>
            <a:endParaRPr lang="en-ZA"/>
          </a:p>
        </p:txBody>
      </p:sp>
      <p:sp>
        <p:nvSpPr>
          <p:cNvPr id="4" name="Slide Number Placeholder 3">
            <a:extLst>
              <a:ext uri="{FF2B5EF4-FFF2-40B4-BE49-F238E27FC236}">
                <a16:creationId xmlns:a16="http://schemas.microsoft.com/office/drawing/2014/main" id="{6D362CEC-3929-79E8-C1E5-8EBE843DDEDD}"/>
              </a:ext>
            </a:extLst>
          </p:cNvPr>
          <p:cNvSpPr>
            <a:spLocks noGrp="1"/>
          </p:cNvSpPr>
          <p:nvPr>
            <p:ph type="sldNum" sz="quarter" idx="12"/>
          </p:nvPr>
        </p:nvSpPr>
        <p:spPr/>
        <p:txBody>
          <a:bodyPr/>
          <a:lstStyle/>
          <a:p>
            <a:fld id="{15BB2F74-E843-4E4A-AEB2-D2C26A532EC9}" type="slidenum">
              <a:rPr lang="en-ZA" smtClean="0"/>
              <a:t>1</a:t>
            </a:fld>
            <a:endParaRPr lang="en-ZA"/>
          </a:p>
        </p:txBody>
      </p:sp>
      <p:pic>
        <p:nvPicPr>
          <p:cNvPr id="6" name="Picture 5" descr="A person eating food at a table&#10;&#10;AI-generated content may be incorrect.">
            <a:extLst>
              <a:ext uri="{FF2B5EF4-FFF2-40B4-BE49-F238E27FC236}">
                <a16:creationId xmlns:a16="http://schemas.microsoft.com/office/drawing/2014/main" id="{94B7163C-BB50-43C6-B7D5-A9887C4DA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8988" y="2212736"/>
            <a:ext cx="6814024" cy="4306937"/>
          </a:xfrm>
          <a:prstGeom prst="rect">
            <a:avLst/>
          </a:prstGeom>
        </p:spPr>
      </p:pic>
    </p:spTree>
    <p:extLst>
      <p:ext uri="{BB962C8B-B14F-4D97-AF65-F5344CB8AC3E}">
        <p14:creationId xmlns:p14="http://schemas.microsoft.com/office/powerpoint/2010/main" val="409180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38CF1-4A12-5255-2DE4-1C8D94CD0044}"/>
              </a:ext>
            </a:extLst>
          </p:cNvPr>
          <p:cNvSpPr>
            <a:spLocks noGrp="1"/>
          </p:cNvSpPr>
          <p:nvPr>
            <p:ph type="title"/>
          </p:nvPr>
        </p:nvSpPr>
        <p:spPr/>
        <p:txBody>
          <a:bodyPr>
            <a:normAutofit/>
          </a:bodyPr>
          <a:lstStyle/>
          <a:p>
            <a:pPr algn="ctr"/>
            <a:br>
              <a:rPr lang="en-ZA" sz="4000" b="1" u="sng" dirty="0">
                <a:effectLst>
                  <a:outerShdw blurRad="38100" dist="38100" dir="2700000" algn="tl">
                    <a:srgbClr val="000000">
                      <a:alpha val="43137"/>
                    </a:srgbClr>
                  </a:outerShdw>
                </a:effectLst>
              </a:rPr>
            </a:br>
            <a:endParaRPr lang="en-ZA" sz="4000" b="1" dirty="0">
              <a:effectLst>
                <a:outerShdw blurRad="38100" dist="38100" dir="2700000" algn="tl">
                  <a:srgbClr val="000000">
                    <a:alpha val="43137"/>
                  </a:srgbClr>
                </a:outerShdw>
              </a:effectLst>
            </a:endParaRPr>
          </a:p>
        </p:txBody>
      </p:sp>
      <p:graphicFrame>
        <p:nvGraphicFramePr>
          <p:cNvPr id="19" name="Content Placeholder 18">
            <a:extLst>
              <a:ext uri="{FF2B5EF4-FFF2-40B4-BE49-F238E27FC236}">
                <a16:creationId xmlns:a16="http://schemas.microsoft.com/office/drawing/2014/main" id="{D672FDB8-8287-47DB-FE7F-D105A1CBC05C}"/>
              </a:ext>
            </a:extLst>
          </p:cNvPr>
          <p:cNvGraphicFramePr>
            <a:graphicFrameLocks noGrp="1"/>
          </p:cNvGraphicFramePr>
          <p:nvPr>
            <p:ph idx="1"/>
            <p:extLst>
              <p:ext uri="{D42A27DB-BD31-4B8C-83A1-F6EECF244321}">
                <p14:modId xmlns:p14="http://schemas.microsoft.com/office/powerpoint/2010/main" val="187972736"/>
              </p:ext>
            </p:extLst>
          </p:nvPr>
        </p:nvGraphicFramePr>
        <p:xfrm>
          <a:off x="393192" y="731520"/>
          <a:ext cx="11173968" cy="5349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Date Placeholder 2">
            <a:extLst>
              <a:ext uri="{FF2B5EF4-FFF2-40B4-BE49-F238E27FC236}">
                <a16:creationId xmlns:a16="http://schemas.microsoft.com/office/drawing/2014/main" id="{67B39F8A-5363-FDBD-7546-66D0C450DE47}"/>
              </a:ext>
            </a:extLst>
          </p:cNvPr>
          <p:cNvSpPr>
            <a:spLocks noGrp="1"/>
          </p:cNvSpPr>
          <p:nvPr>
            <p:ph type="dt" sz="half" idx="10"/>
          </p:nvPr>
        </p:nvSpPr>
        <p:spPr/>
        <p:txBody>
          <a:bodyPr/>
          <a:lstStyle/>
          <a:p>
            <a:fld id="{ED0804A9-CF61-491A-B67C-4983AA0E3694}" type="datetime1">
              <a:rPr lang="en-ZA" smtClean="0"/>
              <a:t>2025/11/17</a:t>
            </a:fld>
            <a:endParaRPr lang="en-ZA"/>
          </a:p>
        </p:txBody>
      </p:sp>
      <p:sp>
        <p:nvSpPr>
          <p:cNvPr id="4" name="Slide Number Placeholder 3">
            <a:extLst>
              <a:ext uri="{FF2B5EF4-FFF2-40B4-BE49-F238E27FC236}">
                <a16:creationId xmlns:a16="http://schemas.microsoft.com/office/drawing/2014/main" id="{C59DB874-80DB-9321-7E14-E4E0255EBD2C}"/>
              </a:ext>
            </a:extLst>
          </p:cNvPr>
          <p:cNvSpPr>
            <a:spLocks noGrp="1"/>
          </p:cNvSpPr>
          <p:nvPr>
            <p:ph type="sldNum" sz="quarter" idx="12"/>
          </p:nvPr>
        </p:nvSpPr>
        <p:spPr/>
        <p:txBody>
          <a:bodyPr/>
          <a:lstStyle/>
          <a:p>
            <a:fld id="{15BB2F74-E843-4E4A-AEB2-D2C26A532EC9}" type="slidenum">
              <a:rPr lang="en-ZA" sz="2000" b="1" smtClean="0">
                <a:solidFill>
                  <a:schemeClr val="tx1"/>
                </a:solidFill>
              </a:rPr>
              <a:t>2</a:t>
            </a:fld>
            <a:endParaRPr lang="en-ZA" sz="2000" b="1" dirty="0">
              <a:solidFill>
                <a:schemeClr val="tx1"/>
              </a:solidFill>
            </a:endParaRPr>
          </a:p>
        </p:txBody>
      </p:sp>
    </p:spTree>
    <p:extLst>
      <p:ext uri="{BB962C8B-B14F-4D97-AF65-F5344CB8AC3E}">
        <p14:creationId xmlns:p14="http://schemas.microsoft.com/office/powerpoint/2010/main" val="3441927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effectLst/>
      </p:bgPr>
    </p:bg>
    <p:spTree>
      <p:nvGrpSpPr>
        <p:cNvPr id="1" name="">
          <a:extLst>
            <a:ext uri="{FF2B5EF4-FFF2-40B4-BE49-F238E27FC236}">
              <a16:creationId xmlns:a16="http://schemas.microsoft.com/office/drawing/2014/main" id="{600CB312-99BE-E0DA-4998-BB2A96B929FC}"/>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1B68E-BB05-22F7-5459-E46C6090EF37}"/>
              </a:ext>
            </a:extLst>
          </p:cNvPr>
          <p:cNvSpPr>
            <a:spLocks noGrp="1"/>
          </p:cNvSpPr>
          <p:nvPr>
            <p:ph type="title"/>
          </p:nvPr>
        </p:nvSpPr>
        <p:spPr>
          <a:xfrm>
            <a:off x="625664" y="301867"/>
            <a:ext cx="4127207" cy="1880951"/>
          </a:xfrm>
        </p:spPr>
        <p:txBody>
          <a:bodyPr vert="horz" lIns="91440" tIns="45720" rIns="91440" bIns="45720" rtlCol="0" anchor="ctr">
            <a:normAutofit fontScale="90000"/>
          </a:bodyPr>
          <a:lstStyle/>
          <a:p>
            <a:br>
              <a:rPr lang="en-US" sz="3400" b="1" dirty="0"/>
            </a:br>
            <a:r>
              <a:rPr lang="en-ZA" sz="3600" b="1" dirty="0"/>
              <a:t>RESTAURANT OVERVIEW</a:t>
            </a:r>
            <a:r>
              <a:rPr lang="en-ZA" sz="4400" b="1" dirty="0"/>
              <a:t>:</a:t>
            </a:r>
            <a:br>
              <a:rPr lang="en-ZA" sz="4400" b="1" dirty="0"/>
            </a:br>
            <a:br>
              <a:rPr lang="en-ZA" sz="4400" b="1" dirty="0"/>
            </a:br>
            <a:r>
              <a:rPr lang="en-ZA" sz="4000" b="1" dirty="0"/>
              <a:t>Current situation</a:t>
            </a:r>
            <a:endParaRPr lang="en-US" sz="4000" b="1" dirty="0"/>
          </a:p>
        </p:txBody>
      </p:sp>
      <p:sp>
        <p:nvSpPr>
          <p:cNvPr id="4" name="Text Placeholder 3">
            <a:extLst>
              <a:ext uri="{FF2B5EF4-FFF2-40B4-BE49-F238E27FC236}">
                <a16:creationId xmlns:a16="http://schemas.microsoft.com/office/drawing/2014/main" id="{43427505-2206-F368-15BE-753D54C21700}"/>
              </a:ext>
            </a:extLst>
          </p:cNvPr>
          <p:cNvSpPr>
            <a:spLocks noGrp="1"/>
          </p:cNvSpPr>
          <p:nvPr>
            <p:ph type="body" sz="half" idx="2"/>
          </p:nvPr>
        </p:nvSpPr>
        <p:spPr>
          <a:xfrm>
            <a:off x="485946" y="3078307"/>
            <a:ext cx="3916191" cy="2197078"/>
          </a:xfrm>
        </p:spPr>
        <p:txBody>
          <a:bodyPr vert="horz" lIns="91440" tIns="45720" rIns="91440" bIns="45720" rtlCol="0">
            <a:normAutofit/>
          </a:bodyPr>
          <a:lstStyle/>
          <a:p>
            <a:pPr marL="514350" indent="-342900">
              <a:buFont typeface="Wingdings" panose="05000000000000000000" pitchFamily="2" charset="2"/>
              <a:buChar char="Ø"/>
            </a:pPr>
            <a:r>
              <a:rPr lang="en-US" sz="3200" dirty="0"/>
              <a:t>History: </a:t>
            </a:r>
          </a:p>
          <a:p>
            <a:pPr marL="514350" indent="-342900">
              <a:buFont typeface="Wingdings" panose="05000000000000000000" pitchFamily="2" charset="2"/>
              <a:buChar char="Ø"/>
            </a:pPr>
            <a:r>
              <a:rPr lang="en-US" sz="3200" dirty="0"/>
              <a:t>Uniqueness:  </a:t>
            </a:r>
          </a:p>
          <a:p>
            <a:pPr marL="514350" indent="-342900">
              <a:buFont typeface="Wingdings" panose="05000000000000000000" pitchFamily="2" charset="2"/>
              <a:buChar char="Ø"/>
            </a:pPr>
            <a:r>
              <a:rPr lang="en-US" sz="3200" dirty="0"/>
              <a:t>Customers:</a:t>
            </a:r>
          </a:p>
          <a:p>
            <a:pPr indent="-228600">
              <a:buFont typeface="Arial" panose="020B0604020202020204" pitchFamily="34" charset="0"/>
              <a:buChar char="•"/>
            </a:pPr>
            <a:endParaRPr lang="en-US" sz="2000" b="1" dirty="0"/>
          </a:p>
        </p:txBody>
      </p:sp>
      <p:sp>
        <p:nvSpPr>
          <p:cNvPr id="5" name="Date Placeholder 4">
            <a:extLst>
              <a:ext uri="{FF2B5EF4-FFF2-40B4-BE49-F238E27FC236}">
                <a16:creationId xmlns:a16="http://schemas.microsoft.com/office/drawing/2014/main" id="{0789C421-C47E-D985-058E-16222D61C724}"/>
              </a:ext>
            </a:extLst>
          </p:cNvPr>
          <p:cNvSpPr>
            <a:spLocks noGrp="1"/>
          </p:cNvSpPr>
          <p:nvPr>
            <p:ph type="dt" sz="half" idx="10"/>
          </p:nvPr>
        </p:nvSpPr>
        <p:spPr>
          <a:xfrm>
            <a:off x="838200" y="6356350"/>
            <a:ext cx="2164746" cy="365125"/>
          </a:xfrm>
        </p:spPr>
        <p:txBody>
          <a:bodyPr vert="horz" lIns="91440" tIns="45720" rIns="91440" bIns="45720" rtlCol="0" anchor="ctr">
            <a:normAutofit/>
          </a:bodyPr>
          <a:lstStyle/>
          <a:p>
            <a:pPr>
              <a:spcAft>
                <a:spcPts val="600"/>
              </a:spcAft>
              <a:defRPr/>
            </a:pPr>
            <a:fld id="{C6C4E11A-68CB-4258-AFD8-BF70CE3A6E2D}" type="datetime1">
              <a:rPr lang="en-ZA" smtClean="0">
                <a:solidFill>
                  <a:prstClr val="black">
                    <a:tint val="75000"/>
                  </a:prstClr>
                </a:solidFill>
                <a:latin typeface="Calibri" panose="020F0502020204030204"/>
              </a:rPr>
              <a:t>2025/11/17</a:t>
            </a:fld>
            <a:endParaRPr lang="en-US">
              <a:solidFill>
                <a:prstClr val="black">
                  <a:tint val="75000"/>
                </a:prstClr>
              </a:solidFill>
              <a:latin typeface="Calibri" panose="020F0502020204030204"/>
            </a:endParaRPr>
          </a:p>
        </p:txBody>
      </p:sp>
      <p:sp>
        <p:nvSpPr>
          <p:cNvPr id="6" name="Slide Number Placeholder 5">
            <a:extLst>
              <a:ext uri="{FF2B5EF4-FFF2-40B4-BE49-F238E27FC236}">
                <a16:creationId xmlns:a16="http://schemas.microsoft.com/office/drawing/2014/main" id="{8C996615-F0EE-438F-7970-484B6C8F428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15BB2F74-E843-4E4A-AEB2-D2C26A532EC9}" type="slidenum">
              <a:rPr lang="en-US">
                <a:solidFill>
                  <a:srgbClr val="FFFFFF"/>
                </a:solidFill>
                <a:latin typeface="Calibri" panose="020F0502020204030204"/>
              </a:rPr>
              <a:pPr>
                <a:spcAft>
                  <a:spcPts val="600"/>
                </a:spcAft>
                <a:defRPr/>
              </a:pPr>
              <a:t>3</a:t>
            </a:fld>
            <a:endParaRPr lang="en-US">
              <a:solidFill>
                <a:srgbClr val="FFFFFF"/>
              </a:solidFill>
              <a:latin typeface="Calibri" panose="020F0502020204030204"/>
            </a:endParaRPr>
          </a:p>
        </p:txBody>
      </p:sp>
      <p:pic>
        <p:nvPicPr>
          <p:cNvPr id="16" name="Picture 15">
            <a:extLst>
              <a:ext uri="{FF2B5EF4-FFF2-40B4-BE49-F238E27FC236}">
                <a16:creationId xmlns:a16="http://schemas.microsoft.com/office/drawing/2014/main" id="{553D8EA7-1342-DACA-E767-10DAF5E3A469}"/>
              </a:ext>
            </a:extLst>
          </p:cNvPr>
          <p:cNvPicPr>
            <a:picLocks noChangeAspect="1"/>
          </p:cNvPicPr>
          <p:nvPr/>
        </p:nvPicPr>
        <p:blipFill>
          <a:blip r:embed="rId3"/>
          <a:stretch>
            <a:fillRect/>
          </a:stretch>
        </p:blipFill>
        <p:spPr>
          <a:xfrm>
            <a:off x="4963886" y="723898"/>
            <a:ext cx="6742168" cy="5174483"/>
          </a:xfrm>
          <a:prstGeom prst="rect">
            <a:avLst/>
          </a:prstGeom>
        </p:spPr>
      </p:pic>
    </p:spTree>
    <p:extLst>
      <p:ext uri="{BB962C8B-B14F-4D97-AF65-F5344CB8AC3E}">
        <p14:creationId xmlns:p14="http://schemas.microsoft.com/office/powerpoint/2010/main" val="846178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75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
          <a:extLst>
            <a:ext uri="{FF2B5EF4-FFF2-40B4-BE49-F238E27FC236}">
              <a16:creationId xmlns:a16="http://schemas.microsoft.com/office/drawing/2014/main" id="{02E3DF86-EA6E-40D5-94C9-13342E810970}"/>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C7820E4-6630-A0D9-6110-CC3C6BD088ED}"/>
              </a:ext>
            </a:extLst>
          </p:cNvPr>
          <p:cNvSpPr>
            <a:spLocks noGrp="1"/>
          </p:cNvSpPr>
          <p:nvPr>
            <p:ph type="title"/>
          </p:nvPr>
        </p:nvSpPr>
        <p:spPr>
          <a:xfrm>
            <a:off x="7320466" y="265471"/>
            <a:ext cx="4140014" cy="1171166"/>
          </a:xfrm>
        </p:spPr>
        <p:txBody>
          <a:bodyPr vert="horz" lIns="91440" tIns="45720" rIns="91440" bIns="45720" rtlCol="0" anchor="ctr">
            <a:normAutofit fontScale="90000"/>
          </a:bodyPr>
          <a:lstStyle/>
          <a:p>
            <a:r>
              <a:rPr lang="en-ZA" b="1" dirty="0"/>
              <a:t>CHALLENGES</a:t>
            </a:r>
            <a:r>
              <a:rPr lang="en-US" b="1" dirty="0"/>
              <a:t>: </a:t>
            </a:r>
            <a:br>
              <a:rPr lang="en-US" b="1" dirty="0"/>
            </a:br>
            <a:r>
              <a:rPr lang="en-US" b="1" dirty="0"/>
              <a:t>Before AWS Migration</a:t>
            </a:r>
            <a:br>
              <a:rPr lang="en-US" sz="2800" dirty="0"/>
            </a:br>
            <a:endParaRPr lang="en-US" sz="2800" dirty="0"/>
          </a:p>
        </p:txBody>
      </p:sp>
      <p:pic>
        <p:nvPicPr>
          <p:cNvPr id="12" name="Picture Placeholder 11">
            <a:extLst>
              <a:ext uri="{FF2B5EF4-FFF2-40B4-BE49-F238E27FC236}">
                <a16:creationId xmlns:a16="http://schemas.microsoft.com/office/drawing/2014/main" id="{40B03867-37C9-7AF1-290F-61EAC8F57C77}"/>
              </a:ext>
            </a:extLst>
          </p:cNvPr>
          <p:cNvPicPr>
            <a:picLocks noGrp="1" noChangeAspect="1"/>
          </p:cNvPicPr>
          <p:nvPr>
            <p:ph type="pic" idx="1"/>
          </p:nvPr>
        </p:nvPicPr>
        <p:blipFill>
          <a:blip r:embed="rId3"/>
          <a:srcRect l="8613" r="8613"/>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6" name="Text Placeholder 5">
            <a:extLst>
              <a:ext uri="{FF2B5EF4-FFF2-40B4-BE49-F238E27FC236}">
                <a16:creationId xmlns:a16="http://schemas.microsoft.com/office/drawing/2014/main" id="{B842F6E1-5BD8-4F86-7FA7-165FB88E9908}"/>
              </a:ext>
            </a:extLst>
          </p:cNvPr>
          <p:cNvSpPr>
            <a:spLocks noGrp="1"/>
          </p:cNvSpPr>
          <p:nvPr>
            <p:ph type="body" sz="half" idx="2"/>
          </p:nvPr>
        </p:nvSpPr>
        <p:spPr>
          <a:xfrm>
            <a:off x="7320465" y="1573161"/>
            <a:ext cx="4140013" cy="4529527"/>
          </a:xfrm>
        </p:spPr>
        <p:txBody>
          <a:bodyPr vert="horz" lIns="91440" tIns="45720" rIns="91440" bIns="45720" rtlCol="0">
            <a:normAutofit/>
          </a:bodyPr>
          <a:lstStyle/>
          <a:p>
            <a:pPr marL="400050" indent="-342900">
              <a:buFont typeface="Wingdings" panose="05000000000000000000" pitchFamily="2" charset="2"/>
              <a:buChar char="Ø"/>
            </a:pPr>
            <a:r>
              <a:rPr lang="en-US" sz="2500" dirty="0"/>
              <a:t>Order mix‑ups &amp; wrong dishes</a:t>
            </a:r>
          </a:p>
          <a:p>
            <a:pPr marL="400050" indent="-342900">
              <a:buFont typeface="Wingdings" panose="05000000000000000000" pitchFamily="2" charset="2"/>
              <a:buChar char="Ø"/>
            </a:pPr>
            <a:r>
              <a:rPr lang="en-US" sz="2500" dirty="0"/>
              <a:t>Double‑bookings → waiting guests to be seated.</a:t>
            </a:r>
          </a:p>
          <a:p>
            <a:pPr marL="400050" indent="-342900">
              <a:buFont typeface="Wingdings" panose="05000000000000000000" pitchFamily="2" charset="2"/>
              <a:buChar char="Ø"/>
            </a:pPr>
            <a:r>
              <a:rPr lang="en-US" sz="2500" dirty="0"/>
              <a:t>No central customer data → lost repeat business</a:t>
            </a:r>
          </a:p>
          <a:p>
            <a:pPr marL="400050" indent="-342900">
              <a:buFont typeface="Wingdings" panose="05000000000000000000" pitchFamily="2" charset="2"/>
              <a:buChar char="Ø"/>
            </a:pPr>
            <a:r>
              <a:rPr lang="en-US" sz="2500" dirty="0"/>
              <a:t>Shortage of staff</a:t>
            </a:r>
          </a:p>
          <a:p>
            <a:endParaRPr lang="en-US" sz="2000" dirty="0"/>
          </a:p>
        </p:txBody>
      </p:sp>
      <p:sp>
        <p:nvSpPr>
          <p:cNvPr id="2" name="Date Placeholder 1">
            <a:extLst>
              <a:ext uri="{FF2B5EF4-FFF2-40B4-BE49-F238E27FC236}">
                <a16:creationId xmlns:a16="http://schemas.microsoft.com/office/drawing/2014/main" id="{D13F0116-DE97-30FE-6B26-F4C6E43A0D39}"/>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167F0812-33BA-4D27-B8EF-DD4FF3C3BFEC}" type="datetime1">
              <a:rPr lang="en-ZA" sz="1000" smtClean="0">
                <a:solidFill>
                  <a:srgbClr val="FFFFFF"/>
                </a:solidFill>
                <a:latin typeface="Calibri" panose="020F0502020204030204"/>
              </a:rPr>
              <a:t>2025/11/17</a:t>
            </a:fld>
            <a:endParaRPr lang="en-US" sz="1000">
              <a:solidFill>
                <a:srgbClr val="FFFFFF"/>
              </a:solidFill>
              <a:latin typeface="Calibri" panose="020F0502020204030204"/>
            </a:endParaRPr>
          </a:p>
        </p:txBody>
      </p:sp>
      <p:sp>
        <p:nvSpPr>
          <p:cNvPr id="3" name="Slide Number Placeholder 2">
            <a:extLst>
              <a:ext uri="{FF2B5EF4-FFF2-40B4-BE49-F238E27FC236}">
                <a16:creationId xmlns:a16="http://schemas.microsoft.com/office/drawing/2014/main" id="{C7D5882B-FBBA-27B8-B74F-BEA17EDEFE9B}"/>
              </a:ext>
            </a:extLst>
          </p:cNvPr>
          <p:cNvSpPr>
            <a:spLocks noGrp="1"/>
          </p:cNvSpPr>
          <p:nvPr>
            <p:ph type="sldNum" sz="quarter" idx="12"/>
          </p:nvPr>
        </p:nvSpPr>
        <p:spPr>
          <a:xfrm>
            <a:off x="8610600" y="6356350"/>
            <a:ext cx="2743200" cy="365125"/>
          </a:xfrm>
        </p:spPr>
        <p:txBody>
          <a:bodyPr vert="horz" lIns="91440" tIns="45720" rIns="91440" bIns="45720" rtlCol="0" anchor="ctr">
            <a:noAutofit/>
          </a:bodyPr>
          <a:lstStyle/>
          <a:p>
            <a:pPr>
              <a:spcAft>
                <a:spcPts val="600"/>
              </a:spcAft>
              <a:defRPr/>
            </a:pPr>
            <a:fld id="{15BB2F74-E843-4E4A-AEB2-D2C26A532EC9}" type="slidenum">
              <a:rPr lang="en-US" sz="2000" b="1">
                <a:solidFill>
                  <a:schemeClr val="tx1"/>
                </a:solidFill>
                <a:latin typeface="Calibri" panose="020F0502020204030204"/>
              </a:rPr>
              <a:pPr>
                <a:spcAft>
                  <a:spcPts val="600"/>
                </a:spcAft>
                <a:defRPr/>
              </a:pPr>
              <a:t>4</a:t>
            </a:fld>
            <a:endParaRPr lang="en-US" sz="2000" b="1" dirty="0">
              <a:solidFill>
                <a:schemeClr val="tx1"/>
              </a:solidFill>
              <a:latin typeface="Calibri" panose="020F0502020204030204"/>
            </a:endParaRPr>
          </a:p>
        </p:txBody>
      </p:sp>
    </p:spTree>
    <p:extLst>
      <p:ext uri="{BB962C8B-B14F-4D97-AF65-F5344CB8AC3E}">
        <p14:creationId xmlns:p14="http://schemas.microsoft.com/office/powerpoint/2010/main" val="1277624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5EBE6-4AF5-3400-3E0A-15C0A9EBB477}"/>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CEBA7A0-1120-159E-6A83-975D678FE059}"/>
              </a:ext>
            </a:extLst>
          </p:cNvPr>
          <p:cNvSpPr>
            <a:spLocks noGrp="1"/>
          </p:cNvSpPr>
          <p:nvPr>
            <p:ph type="title"/>
          </p:nvPr>
        </p:nvSpPr>
        <p:spPr>
          <a:xfrm>
            <a:off x="640080" y="325369"/>
            <a:ext cx="4368602" cy="1956841"/>
          </a:xfrm>
        </p:spPr>
        <p:txBody>
          <a:bodyPr vert="horz" lIns="91440" tIns="45720" rIns="91440" bIns="45720" rtlCol="0" anchor="b">
            <a:normAutofit fontScale="90000"/>
          </a:bodyPr>
          <a:lstStyle/>
          <a:p>
            <a:r>
              <a:rPr lang="en-US" sz="5400" b="1" dirty="0"/>
              <a:t>Solution:</a:t>
            </a:r>
            <a:br>
              <a:rPr lang="en-US" sz="5400" b="1" dirty="0"/>
            </a:br>
            <a:r>
              <a:rPr lang="en-US" sz="5400" b="1" dirty="0"/>
              <a:t>Simple static website with:</a:t>
            </a:r>
          </a:p>
        </p:txBody>
      </p:sp>
      <p:sp>
        <p:nvSpPr>
          <p:cNvPr id="3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84A37C7-FD87-4824-C817-D628062BBA28}"/>
              </a:ext>
            </a:extLst>
          </p:cNvPr>
          <p:cNvSpPr txBox="1"/>
          <p:nvPr/>
        </p:nvSpPr>
        <p:spPr>
          <a:xfrm>
            <a:off x="640080" y="2872899"/>
            <a:ext cx="4243589" cy="3320668"/>
          </a:xfrm>
          <a:prstGeom prst="rect">
            <a:avLst/>
          </a:prstGeom>
        </p:spPr>
        <p:txBody>
          <a:bodyPr vert="horz" lIns="91440" tIns="45720" rIns="91440" bIns="45720" rtlCol="0">
            <a:normAutofit/>
          </a:bodyPr>
          <a:lstStyle/>
          <a:p>
            <a:pPr marL="571500" indent="-228600">
              <a:lnSpc>
                <a:spcPct val="90000"/>
              </a:lnSpc>
              <a:spcAft>
                <a:spcPts val="800"/>
              </a:spcAft>
              <a:buFont typeface="Arial" panose="020B0604020202020204" pitchFamily="34" charset="0"/>
              <a:buChar char="•"/>
            </a:pPr>
            <a:r>
              <a:rPr lang="en-US" sz="2200">
                <a:effectLst/>
              </a:rPr>
              <a:t>Pictures of our dishes</a:t>
            </a:r>
          </a:p>
          <a:p>
            <a:pPr marL="571500" indent="-228600">
              <a:lnSpc>
                <a:spcPct val="90000"/>
              </a:lnSpc>
              <a:spcAft>
                <a:spcPts val="800"/>
              </a:spcAft>
              <a:buFont typeface="Arial" panose="020B0604020202020204" pitchFamily="34" charset="0"/>
              <a:buChar char="•"/>
            </a:pPr>
            <a:r>
              <a:rPr lang="en-US" sz="2200">
                <a:effectLst/>
              </a:rPr>
              <a:t>Dine‑in booking form</a:t>
            </a:r>
          </a:p>
          <a:p>
            <a:pPr marL="571500" indent="-228600">
              <a:lnSpc>
                <a:spcPct val="90000"/>
              </a:lnSpc>
              <a:spcAft>
                <a:spcPts val="800"/>
              </a:spcAft>
              <a:buFont typeface="Arial" panose="020B0604020202020204" pitchFamily="34" charset="0"/>
              <a:buChar char="•"/>
            </a:pPr>
            <a:r>
              <a:rPr lang="en-US" sz="2200">
                <a:effectLst/>
              </a:rPr>
              <a:t>Take‑away order form</a:t>
            </a:r>
          </a:p>
          <a:p>
            <a:pPr marL="571500" indent="-228600">
              <a:lnSpc>
                <a:spcPct val="90000"/>
              </a:lnSpc>
              <a:spcAft>
                <a:spcPts val="800"/>
              </a:spcAft>
              <a:buFont typeface="Arial" panose="020B0604020202020204" pitchFamily="34" charset="0"/>
              <a:buChar char="•"/>
            </a:pPr>
            <a:r>
              <a:rPr lang="en-US" sz="2200">
                <a:effectLst/>
              </a:rPr>
              <a:t>Loyalty programme</a:t>
            </a:r>
          </a:p>
          <a:p>
            <a:pPr marL="571500" indent="-228600">
              <a:lnSpc>
                <a:spcPct val="90000"/>
              </a:lnSpc>
              <a:spcAft>
                <a:spcPts val="800"/>
              </a:spcAft>
              <a:buFont typeface="Arial" panose="020B0604020202020204" pitchFamily="34" charset="0"/>
              <a:buChar char="•"/>
            </a:pPr>
            <a:r>
              <a:rPr lang="en-US" sz="2200">
                <a:effectLst/>
              </a:rPr>
              <a:t>Login / register / sign‑up</a:t>
            </a:r>
          </a:p>
          <a:p>
            <a:pPr marL="571500" indent="-228600">
              <a:lnSpc>
                <a:spcPct val="90000"/>
              </a:lnSpc>
              <a:spcAft>
                <a:spcPts val="800"/>
              </a:spcAft>
              <a:buFont typeface="Arial" panose="020B0604020202020204" pitchFamily="34" charset="0"/>
              <a:buChar char="•"/>
            </a:pPr>
            <a:r>
              <a:rPr lang="en-US" sz="2200">
                <a:effectLst/>
              </a:rPr>
              <a:t>Contacts, Map </a:t>
            </a:r>
            <a:r>
              <a:rPr lang="en-US" sz="2200"/>
              <a:t>for</a:t>
            </a:r>
            <a:r>
              <a:rPr lang="en-US" sz="2200">
                <a:effectLst/>
              </a:rPr>
              <a:t> directions, etc.</a:t>
            </a:r>
          </a:p>
        </p:txBody>
      </p:sp>
      <p:sp>
        <p:nvSpPr>
          <p:cNvPr id="2" name="Date Placeholder 1">
            <a:extLst>
              <a:ext uri="{FF2B5EF4-FFF2-40B4-BE49-F238E27FC236}">
                <a16:creationId xmlns:a16="http://schemas.microsoft.com/office/drawing/2014/main" id="{C55EC39F-25B6-5358-E418-5C37DA6CF50B}"/>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CC0B0A1A-299A-4D36-977A-5AB240734921}" type="datetime1">
              <a:rPr lang="en-ZA" smtClean="0">
                <a:solidFill>
                  <a:prstClr val="black">
                    <a:tint val="75000"/>
                  </a:prstClr>
                </a:solidFill>
                <a:latin typeface="Calibri" panose="020F0502020204030204"/>
              </a:rPr>
              <a:t>2025/11/17</a:t>
            </a:fld>
            <a:endParaRPr lang="en-US">
              <a:solidFill>
                <a:prstClr val="black">
                  <a:tint val="75000"/>
                </a:prstClr>
              </a:solidFill>
              <a:latin typeface="Calibri" panose="020F0502020204030204"/>
            </a:endParaRPr>
          </a:p>
        </p:txBody>
      </p:sp>
      <p:pic>
        <p:nvPicPr>
          <p:cNvPr id="13" name="Picture 12" descr="A collage of food&#10;&#10;AI-generated content may be incorrect.">
            <a:extLst>
              <a:ext uri="{FF2B5EF4-FFF2-40B4-BE49-F238E27FC236}">
                <a16:creationId xmlns:a16="http://schemas.microsoft.com/office/drawing/2014/main" id="{BA1F94DE-C6C3-C32E-4267-5E39767CA9DA}"/>
              </a:ext>
            </a:extLst>
          </p:cNvPr>
          <p:cNvPicPr>
            <a:picLocks noChangeAspect="1"/>
          </p:cNvPicPr>
          <p:nvPr/>
        </p:nvPicPr>
        <p:blipFill>
          <a:blip r:embed="rId3">
            <a:extLst>
              <a:ext uri="{28A0092B-C50C-407E-A947-70E740481C1C}">
                <a14:useLocalDpi xmlns:a14="http://schemas.microsoft.com/office/drawing/2010/main" val="0"/>
              </a:ext>
            </a:extLst>
          </a:blip>
          <a:srcRect t="10364" r="-1" b="33556"/>
          <a:stretch>
            <a:fillRect/>
          </a:stretch>
        </p:blipFill>
        <p:spPr>
          <a:xfrm>
            <a:off x="5313225"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CB08A09A-949C-C494-D902-6A676FA5CA6D}"/>
              </a:ext>
            </a:extLst>
          </p:cNvPr>
          <p:cNvSpPr>
            <a:spLocks noGrp="1"/>
          </p:cNvSpPr>
          <p:nvPr>
            <p:ph type="sldNum" sz="quarter" idx="12"/>
          </p:nvPr>
        </p:nvSpPr>
        <p:spPr>
          <a:xfrm>
            <a:off x="10439400" y="6356350"/>
            <a:ext cx="914400" cy="365125"/>
          </a:xfrm>
        </p:spPr>
        <p:txBody>
          <a:bodyPr vert="horz" lIns="91440" tIns="45720" rIns="91440" bIns="45720" rtlCol="0" anchor="ctr">
            <a:normAutofit/>
          </a:bodyPr>
          <a:lstStyle/>
          <a:p>
            <a:pPr>
              <a:spcAft>
                <a:spcPts val="600"/>
              </a:spcAft>
              <a:defRPr/>
            </a:pPr>
            <a:fld id="{15BB2F74-E843-4E4A-AEB2-D2C26A532EC9}" type="slidenum">
              <a:rPr lang="en-US">
                <a:solidFill>
                  <a:srgbClr val="FFFFFF"/>
                </a:solidFill>
                <a:latin typeface="Calibri" panose="020F0502020204030204"/>
              </a:rPr>
              <a:pPr>
                <a:spcAft>
                  <a:spcPts val="600"/>
                </a:spcAft>
                <a:defRPr/>
              </a:pPr>
              <a:t>5</a:t>
            </a:fld>
            <a:endParaRPr lang="en-US">
              <a:solidFill>
                <a:srgbClr val="FFFFFF"/>
              </a:solidFill>
              <a:latin typeface="Calibri" panose="020F0502020204030204"/>
            </a:endParaRPr>
          </a:p>
        </p:txBody>
      </p:sp>
    </p:spTree>
    <p:extLst>
      <p:ext uri="{BB962C8B-B14F-4D97-AF65-F5344CB8AC3E}">
        <p14:creationId xmlns:p14="http://schemas.microsoft.com/office/powerpoint/2010/main" val="2348642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1D907-B17E-D4D7-EFF5-F2CDF593BFBE}"/>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A1952A88-DB4D-A0D3-A0BB-D4B8C957E472}"/>
              </a:ext>
            </a:extLst>
          </p:cNvPr>
          <p:cNvSpPr>
            <a:spLocks noGrp="1"/>
          </p:cNvSpPr>
          <p:nvPr>
            <p:ph type="dt" sz="half" idx="10"/>
          </p:nvPr>
        </p:nvSpPr>
        <p:spPr/>
        <p:txBody>
          <a:bodyPr/>
          <a:lstStyle/>
          <a:p>
            <a:fld id="{51B6ED68-8954-40A9-A93E-BDF0F658C139}" type="datetime1">
              <a:rPr lang="en-ZA" smtClean="0"/>
              <a:t>2025/11/17</a:t>
            </a:fld>
            <a:endParaRPr lang="en-ZA"/>
          </a:p>
        </p:txBody>
      </p:sp>
      <p:sp>
        <p:nvSpPr>
          <p:cNvPr id="6" name="Slide Number Placeholder 5">
            <a:extLst>
              <a:ext uri="{FF2B5EF4-FFF2-40B4-BE49-F238E27FC236}">
                <a16:creationId xmlns:a16="http://schemas.microsoft.com/office/drawing/2014/main" id="{0BF3F230-E68F-530C-4766-942870FA582A}"/>
              </a:ext>
            </a:extLst>
          </p:cNvPr>
          <p:cNvSpPr>
            <a:spLocks noGrp="1"/>
          </p:cNvSpPr>
          <p:nvPr>
            <p:ph type="sldNum" sz="quarter" idx="12"/>
          </p:nvPr>
        </p:nvSpPr>
        <p:spPr/>
        <p:txBody>
          <a:bodyPr/>
          <a:lstStyle/>
          <a:p>
            <a:fld id="{15BB2F74-E843-4E4A-AEB2-D2C26A532EC9}" type="slidenum">
              <a:rPr lang="en-ZA" smtClean="0"/>
              <a:t>6</a:t>
            </a:fld>
            <a:endParaRPr lang="en-ZA"/>
          </a:p>
        </p:txBody>
      </p:sp>
      <p:pic>
        <p:nvPicPr>
          <p:cNvPr id="3" name="Picture 2" descr="A screenshot of a computer&#10;&#10;AI-generated content may be incorrect.">
            <a:extLst>
              <a:ext uri="{FF2B5EF4-FFF2-40B4-BE49-F238E27FC236}">
                <a16:creationId xmlns:a16="http://schemas.microsoft.com/office/drawing/2014/main" id="{FE8B4A4F-BE07-FA7C-6081-DE9E7227C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623"/>
            <a:ext cx="12192000" cy="6834377"/>
          </a:xfrm>
          <a:prstGeom prst="rect">
            <a:avLst/>
          </a:prstGeom>
        </p:spPr>
      </p:pic>
    </p:spTree>
    <p:extLst>
      <p:ext uri="{BB962C8B-B14F-4D97-AF65-F5344CB8AC3E}">
        <p14:creationId xmlns:p14="http://schemas.microsoft.com/office/powerpoint/2010/main" val="213385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A6A89D83-2E77-FFF2-48D7-C4D2B3AB1504}"/>
              </a:ext>
            </a:extLst>
          </p:cNvPr>
          <p:cNvSpPr>
            <a:spLocks noGrp="1"/>
          </p:cNvSpPr>
          <p:nvPr>
            <p:ph type="dt" sz="half" idx="10"/>
          </p:nvPr>
        </p:nvSpPr>
        <p:spPr/>
        <p:txBody>
          <a:bodyPr/>
          <a:lstStyle/>
          <a:p>
            <a:fld id="{51B6ED68-8954-40A9-A93E-BDF0F658C139}" type="datetime1">
              <a:rPr lang="en-ZA" smtClean="0"/>
              <a:t>2025/11/17</a:t>
            </a:fld>
            <a:endParaRPr lang="en-ZA"/>
          </a:p>
        </p:txBody>
      </p:sp>
      <p:sp>
        <p:nvSpPr>
          <p:cNvPr id="6" name="Slide Number Placeholder 5">
            <a:extLst>
              <a:ext uri="{FF2B5EF4-FFF2-40B4-BE49-F238E27FC236}">
                <a16:creationId xmlns:a16="http://schemas.microsoft.com/office/drawing/2014/main" id="{E90C06AF-E831-B295-D299-2B6721E22CA4}"/>
              </a:ext>
            </a:extLst>
          </p:cNvPr>
          <p:cNvSpPr>
            <a:spLocks noGrp="1"/>
          </p:cNvSpPr>
          <p:nvPr>
            <p:ph type="sldNum" sz="quarter" idx="12"/>
          </p:nvPr>
        </p:nvSpPr>
        <p:spPr/>
        <p:txBody>
          <a:bodyPr/>
          <a:lstStyle/>
          <a:p>
            <a:fld id="{15BB2F74-E843-4E4A-AEB2-D2C26A532EC9}" type="slidenum">
              <a:rPr lang="en-ZA" smtClean="0"/>
              <a:t>7</a:t>
            </a:fld>
            <a:endParaRPr lang="en-ZA"/>
          </a:p>
        </p:txBody>
      </p:sp>
      <p:pic>
        <p:nvPicPr>
          <p:cNvPr id="16" name="Picture 15">
            <a:extLst>
              <a:ext uri="{FF2B5EF4-FFF2-40B4-BE49-F238E27FC236}">
                <a16:creationId xmlns:a16="http://schemas.microsoft.com/office/drawing/2014/main" id="{A6352195-0C80-6D43-82AB-2498AAF4544E}"/>
              </a:ext>
            </a:extLst>
          </p:cNvPr>
          <p:cNvPicPr>
            <a:picLocks noChangeAspect="1"/>
          </p:cNvPicPr>
          <p:nvPr/>
        </p:nvPicPr>
        <p:blipFill>
          <a:blip r:embed="rId3"/>
          <a:stretch>
            <a:fillRect/>
          </a:stretch>
        </p:blipFill>
        <p:spPr>
          <a:xfrm>
            <a:off x="0" y="-1"/>
            <a:ext cx="12115800" cy="6858001"/>
          </a:xfrm>
          <a:prstGeom prst="rect">
            <a:avLst/>
          </a:prstGeom>
        </p:spPr>
      </p:pic>
    </p:spTree>
    <p:extLst>
      <p:ext uri="{BB962C8B-B14F-4D97-AF65-F5344CB8AC3E}">
        <p14:creationId xmlns:p14="http://schemas.microsoft.com/office/powerpoint/2010/main" val="4283556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8DCF2A4-53C8-BC04-0BC0-867E9D56DD87}"/>
              </a:ext>
            </a:extLst>
          </p:cNvPr>
          <p:cNvSpPr>
            <a:spLocks noGrp="1"/>
          </p:cNvSpPr>
          <p:nvPr>
            <p:ph type="title"/>
          </p:nvPr>
        </p:nvSpPr>
        <p:spPr>
          <a:xfrm>
            <a:off x="490537" y="554977"/>
            <a:ext cx="11210925" cy="744836"/>
          </a:xfrm>
        </p:spPr>
        <p:txBody>
          <a:bodyPr>
            <a:normAutofit/>
          </a:bodyPr>
          <a:lstStyle/>
          <a:p>
            <a:pPr algn="ctr"/>
            <a:r>
              <a:rPr lang="en-ZA" sz="3200" dirty="0">
                <a:solidFill>
                  <a:schemeClr val="bg1"/>
                </a:solidFill>
              </a:rPr>
              <a:t>AWS SERVICES:</a:t>
            </a:r>
          </a:p>
        </p:txBody>
      </p:sp>
      <p:sp>
        <p:nvSpPr>
          <p:cNvPr id="2" name="Date Placeholder 1">
            <a:extLst>
              <a:ext uri="{FF2B5EF4-FFF2-40B4-BE49-F238E27FC236}">
                <a16:creationId xmlns:a16="http://schemas.microsoft.com/office/drawing/2014/main" id="{05B37350-64C8-FED0-F5BC-7809F12D1231}"/>
              </a:ext>
            </a:extLst>
          </p:cNvPr>
          <p:cNvSpPr>
            <a:spLocks noGrp="1"/>
          </p:cNvSpPr>
          <p:nvPr>
            <p:ph type="dt" sz="half" idx="10"/>
          </p:nvPr>
        </p:nvSpPr>
        <p:spPr>
          <a:xfrm>
            <a:off x="838200" y="6356350"/>
            <a:ext cx="2743200" cy="365125"/>
          </a:xfrm>
        </p:spPr>
        <p:txBody>
          <a:bodyPr>
            <a:normAutofit/>
          </a:bodyPr>
          <a:lstStyle/>
          <a:p>
            <a:pPr>
              <a:spcAft>
                <a:spcPts val="600"/>
              </a:spcAft>
            </a:pPr>
            <a:fld id="{A0A67E21-E9D5-41C6-BE0A-6523408BC642}" type="datetime1">
              <a:rPr lang="en-ZA" smtClean="0"/>
              <a:t>2025/11/17</a:t>
            </a:fld>
            <a:endParaRPr lang="en-ZA"/>
          </a:p>
        </p:txBody>
      </p:sp>
      <p:sp>
        <p:nvSpPr>
          <p:cNvPr id="3" name="Slide Number Placeholder 2">
            <a:extLst>
              <a:ext uri="{FF2B5EF4-FFF2-40B4-BE49-F238E27FC236}">
                <a16:creationId xmlns:a16="http://schemas.microsoft.com/office/drawing/2014/main" id="{23154DBB-220F-5A7F-77F8-8FA531791CC1}"/>
              </a:ext>
            </a:extLst>
          </p:cNvPr>
          <p:cNvSpPr>
            <a:spLocks noGrp="1"/>
          </p:cNvSpPr>
          <p:nvPr>
            <p:ph type="sldNum" sz="quarter" idx="12"/>
          </p:nvPr>
        </p:nvSpPr>
        <p:spPr>
          <a:xfrm>
            <a:off x="8610600" y="6356350"/>
            <a:ext cx="2743200" cy="365125"/>
          </a:xfrm>
        </p:spPr>
        <p:txBody>
          <a:bodyPr>
            <a:normAutofit/>
          </a:bodyPr>
          <a:lstStyle/>
          <a:p>
            <a:pPr>
              <a:spcAft>
                <a:spcPts val="600"/>
              </a:spcAft>
            </a:pPr>
            <a:fld id="{15BB2F74-E843-4E4A-AEB2-D2C26A532EC9}" type="slidenum">
              <a:rPr lang="en-ZA" smtClean="0"/>
              <a:pPr>
                <a:spcAft>
                  <a:spcPts val="600"/>
                </a:spcAft>
              </a:pPr>
              <a:t>8</a:t>
            </a:fld>
            <a:endParaRPr lang="en-ZA"/>
          </a:p>
        </p:txBody>
      </p:sp>
      <p:graphicFrame>
        <p:nvGraphicFramePr>
          <p:cNvPr id="10" name="Table 9">
            <a:extLst>
              <a:ext uri="{FF2B5EF4-FFF2-40B4-BE49-F238E27FC236}">
                <a16:creationId xmlns:a16="http://schemas.microsoft.com/office/drawing/2014/main" id="{0D078A7B-E643-0F64-CDFC-CBDA81E3B5B4}"/>
              </a:ext>
            </a:extLst>
          </p:cNvPr>
          <p:cNvGraphicFramePr>
            <a:graphicFrameLocks noGrp="1"/>
          </p:cNvGraphicFramePr>
          <p:nvPr>
            <p:extLst>
              <p:ext uri="{D42A27DB-BD31-4B8C-83A1-F6EECF244321}">
                <p14:modId xmlns:p14="http://schemas.microsoft.com/office/powerpoint/2010/main" val="3631107471"/>
              </p:ext>
            </p:extLst>
          </p:nvPr>
        </p:nvGraphicFramePr>
        <p:xfrm>
          <a:off x="117988" y="1396588"/>
          <a:ext cx="11901948" cy="4833446"/>
        </p:xfrm>
        <a:graphic>
          <a:graphicData uri="http://schemas.openxmlformats.org/drawingml/2006/table">
            <a:tbl>
              <a:tblPr firstRow="1" bandRow="1">
                <a:solidFill>
                  <a:srgbClr val="404040"/>
                </a:solidFill>
                <a:tableStyleId>{5C22544A-7EE6-4342-B048-85BDC9FD1C3A}</a:tableStyleId>
              </a:tblPr>
              <a:tblGrid>
                <a:gridCol w="3379980">
                  <a:extLst>
                    <a:ext uri="{9D8B030D-6E8A-4147-A177-3AD203B41FA5}">
                      <a16:colId xmlns:a16="http://schemas.microsoft.com/office/drawing/2014/main" val="814915917"/>
                    </a:ext>
                  </a:extLst>
                </a:gridCol>
                <a:gridCol w="8521968">
                  <a:extLst>
                    <a:ext uri="{9D8B030D-6E8A-4147-A177-3AD203B41FA5}">
                      <a16:colId xmlns:a16="http://schemas.microsoft.com/office/drawing/2014/main" val="4137966940"/>
                    </a:ext>
                  </a:extLst>
                </a:gridCol>
              </a:tblGrid>
              <a:tr h="510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cap="none" spc="0" dirty="0">
                          <a:solidFill>
                            <a:schemeClr val="bg1"/>
                          </a:solidFill>
                        </a:rPr>
                        <a:t>S3</a:t>
                      </a:r>
                    </a:p>
                  </a:txBody>
                  <a:tcPr marL="109429" marR="109429" marT="109429" marB="54715" anchor="ctr">
                    <a:lnL w="12700" cmpd="sng">
                      <a:noFill/>
                    </a:lnL>
                    <a:lnR w="12700" cmpd="sng">
                      <a:noFill/>
                    </a:lnR>
                    <a:lnT w="19050" cap="flat" cmpd="sng" algn="ctr">
                      <a:noFill/>
                      <a:prstDash val="solid"/>
                    </a:lnT>
                    <a:lnB w="38100" cmpd="sng">
                      <a:noFill/>
                    </a:lnB>
                    <a:solidFill>
                      <a:schemeClr val="tx1">
                        <a:lumMod val="85000"/>
                        <a:lumOff val="1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2000" b="0" cap="none" spc="0" dirty="0">
                          <a:solidFill>
                            <a:schemeClr val="bg1"/>
                          </a:solidFill>
                        </a:rPr>
                        <a:t>Hosts the website &amp; images</a:t>
                      </a:r>
                    </a:p>
                  </a:txBody>
                  <a:tcPr marL="109429" marR="109429" marT="109429" marB="54715" anchor="ctr">
                    <a:lnL w="12700" cmpd="sng">
                      <a:noFill/>
                    </a:lnL>
                    <a:lnR w="12700" cmpd="sng">
                      <a:noFill/>
                    </a:lnR>
                    <a:lnT w="19050" cap="flat" cmpd="sng" algn="ctr">
                      <a:noFill/>
                      <a:prstDash val="solid"/>
                    </a:lnT>
                    <a:lnB w="38100" cmpd="sng">
                      <a:noFill/>
                    </a:lnB>
                    <a:solidFill>
                      <a:schemeClr val="tx1">
                        <a:lumMod val="85000"/>
                        <a:lumOff val="15000"/>
                      </a:schemeClr>
                    </a:solidFill>
                  </a:tcPr>
                </a:tc>
                <a:extLst>
                  <a:ext uri="{0D108BD9-81ED-4DB2-BD59-A6C34878D82A}">
                    <a16:rowId xmlns:a16="http://schemas.microsoft.com/office/drawing/2014/main" val="4049729962"/>
                  </a:ext>
                </a:extLst>
              </a:tr>
              <a:tr h="481704">
                <a:tc>
                  <a:txBody>
                    <a:bodyPr/>
                    <a:lstStyle/>
                    <a:p>
                      <a:r>
                        <a:rPr lang="en-ZA" sz="2000" cap="none" spc="0" dirty="0">
                          <a:solidFill>
                            <a:schemeClr val="bg1"/>
                          </a:solidFill>
                        </a:rPr>
                        <a:t>CloudFront</a:t>
                      </a:r>
                    </a:p>
                  </a:txBody>
                  <a:tcPr marL="109429" marR="109429" marT="109429" marB="54715">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r>
                        <a:rPr lang="en-ZA" sz="2000" cap="none" spc="0" dirty="0">
                          <a:solidFill>
                            <a:schemeClr val="bg1"/>
                          </a:solidFill>
                        </a:rPr>
                        <a:t>Fast global delivery</a:t>
                      </a:r>
                    </a:p>
                  </a:txBody>
                  <a:tcPr marL="109429" marR="109429" marT="109429" marB="54715">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832522734"/>
                  </a:ext>
                </a:extLst>
              </a:tr>
              <a:tr h="481704">
                <a:tc>
                  <a:txBody>
                    <a:bodyPr/>
                    <a:lstStyle/>
                    <a:p>
                      <a:r>
                        <a:rPr lang="en-ZA" sz="2000" cap="none" spc="0" dirty="0">
                          <a:solidFill>
                            <a:schemeClr val="bg1"/>
                          </a:solidFill>
                        </a:rPr>
                        <a:t>Route 53</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r>
                        <a:rPr lang="en-ZA" sz="2000" cap="none" spc="0" dirty="0">
                          <a:solidFill>
                            <a:schemeClr val="bg1"/>
                          </a:solidFill>
                        </a:rPr>
                        <a:t>Custom domain &amp; DNS</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063193598"/>
                  </a:ext>
                </a:extLst>
              </a:tr>
              <a:tr h="481704">
                <a:tc>
                  <a:txBody>
                    <a:bodyPr/>
                    <a:lstStyle/>
                    <a:p>
                      <a:r>
                        <a:rPr lang="en-ZA" sz="2000" cap="none" spc="0" dirty="0">
                          <a:solidFill>
                            <a:schemeClr val="bg1"/>
                          </a:solidFill>
                        </a:rPr>
                        <a:t>ACM</a:t>
                      </a:r>
                    </a:p>
                  </a:txBody>
                  <a:tcPr marL="109429" marR="109429" marT="109429" marB="54715">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r>
                        <a:rPr lang="en-ZA" sz="2000" cap="none" spc="0" dirty="0">
                          <a:solidFill>
                            <a:schemeClr val="bg1"/>
                          </a:solidFill>
                        </a:rPr>
                        <a:t>Free SSL Certificate</a:t>
                      </a:r>
                    </a:p>
                  </a:txBody>
                  <a:tcPr marL="109429" marR="109429" marT="109429" marB="54715">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4055587719"/>
                  </a:ext>
                </a:extLst>
              </a:tr>
              <a:tr h="481704">
                <a:tc>
                  <a:txBody>
                    <a:bodyPr/>
                    <a:lstStyle/>
                    <a:p>
                      <a:r>
                        <a:rPr lang="en-ZA" sz="2000" cap="none" spc="0" dirty="0">
                          <a:solidFill>
                            <a:schemeClr val="bg1"/>
                          </a:solidFill>
                        </a:rPr>
                        <a:t>API Gateway</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r>
                        <a:rPr lang="en-ZA" sz="2000" cap="none" spc="0" dirty="0">
                          <a:solidFill>
                            <a:schemeClr val="bg1"/>
                          </a:solidFill>
                        </a:rPr>
                        <a:t>Connects forms to the backend</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032384076"/>
                  </a:ext>
                </a:extLst>
              </a:tr>
              <a:tr h="481704">
                <a:tc>
                  <a:txBody>
                    <a:bodyPr/>
                    <a:lstStyle/>
                    <a:p>
                      <a:r>
                        <a:rPr lang="en-ZA" sz="2000" cap="none" spc="0" dirty="0">
                          <a:solidFill>
                            <a:schemeClr val="bg1"/>
                          </a:solidFill>
                        </a:rPr>
                        <a:t>Lambda</a:t>
                      </a:r>
                    </a:p>
                  </a:txBody>
                  <a:tcPr marL="109429" marR="109429" marT="109429" marB="54715">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r>
                        <a:rPr lang="en-ZA" sz="2000" cap="none" spc="0" dirty="0">
                          <a:solidFill>
                            <a:schemeClr val="bg1"/>
                          </a:solidFill>
                        </a:rPr>
                        <a:t>Handles bookings &amp; order logic</a:t>
                      </a:r>
                    </a:p>
                  </a:txBody>
                  <a:tcPr marL="109429" marR="109429" marT="109429" marB="54715">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042466846"/>
                  </a:ext>
                </a:extLst>
              </a:tr>
              <a:tr h="481704">
                <a:tc>
                  <a:txBody>
                    <a:bodyPr/>
                    <a:lstStyle/>
                    <a:p>
                      <a:r>
                        <a:rPr lang="en-ZA" sz="2000" cap="none" spc="0" dirty="0">
                          <a:solidFill>
                            <a:schemeClr val="bg1"/>
                          </a:solidFill>
                        </a:rPr>
                        <a:t>DynamoDB</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r>
                        <a:rPr lang="en-ZA" sz="2000" cap="none" spc="0" dirty="0">
                          <a:solidFill>
                            <a:schemeClr val="bg1"/>
                          </a:solidFill>
                        </a:rPr>
                        <a:t>Stores reservations, orders, loyalty points</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92192344"/>
                  </a:ext>
                </a:extLst>
              </a:tr>
              <a:tr h="481704">
                <a:tc>
                  <a:txBody>
                    <a:bodyPr/>
                    <a:lstStyle/>
                    <a:p>
                      <a:r>
                        <a:rPr lang="en-ZA" sz="2000" cap="none" spc="0" dirty="0">
                          <a:solidFill>
                            <a:schemeClr val="bg1"/>
                          </a:solidFill>
                        </a:rPr>
                        <a:t>Cognito</a:t>
                      </a:r>
                    </a:p>
                  </a:txBody>
                  <a:tcPr marL="109429" marR="109429" marT="109429" marB="54715">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r>
                        <a:rPr lang="en-ZA" sz="2000" cap="none" spc="0" dirty="0">
                          <a:solidFill>
                            <a:schemeClr val="bg1"/>
                          </a:solidFill>
                        </a:rPr>
                        <a:t>User login &amp; registration</a:t>
                      </a:r>
                    </a:p>
                  </a:txBody>
                  <a:tcPr marL="109429" marR="109429" marT="109429" marB="54715">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756146415"/>
                  </a:ext>
                </a:extLst>
              </a:tr>
              <a:tr h="408086">
                <a:tc>
                  <a:txBody>
                    <a:bodyPr/>
                    <a:lstStyle/>
                    <a:p>
                      <a:r>
                        <a:rPr lang="en-ZA" sz="2000" cap="none" spc="0" dirty="0">
                          <a:solidFill>
                            <a:schemeClr val="bg1"/>
                          </a:solidFill>
                        </a:rPr>
                        <a:t>Location Service</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r>
                        <a:rPr lang="en-ZA" sz="2000" cap="none" spc="0" dirty="0">
                          <a:solidFill>
                            <a:schemeClr val="bg1"/>
                          </a:solidFill>
                        </a:rPr>
                        <a:t>Interactive Map</a:t>
                      </a:r>
                    </a:p>
                  </a:txBody>
                  <a:tcPr marL="109429" marR="109429" marT="109429" marB="54715">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70804423"/>
                  </a:ext>
                </a:extLst>
              </a:tr>
              <a:tr h="481704">
                <a:tc gridSpan="2">
                  <a:txBody>
                    <a:bodyPr/>
                    <a:lstStyle/>
                    <a:p>
                      <a:endParaRPr lang="en-ZA" sz="1400" cap="none" spc="0" dirty="0">
                        <a:solidFill>
                          <a:schemeClr val="bg1"/>
                        </a:solidFill>
                      </a:endParaRPr>
                    </a:p>
                  </a:txBody>
                  <a:tcPr marL="109429" marR="109429" marT="109429" marB="54715">
                    <a:lnL w="12700" cmpd="sng">
                      <a:noFill/>
                      <a:prstDash val="solid"/>
                    </a:lnL>
                    <a:lnR w="12700" cmpd="sng">
                      <a:noFill/>
                      <a:prstDash val="solid"/>
                    </a:lnR>
                    <a:lnT w="12700" cmpd="sng">
                      <a:noFill/>
                      <a:prstDash val="solid"/>
                    </a:lnT>
                    <a:lnB w="12700" cmpd="sng">
                      <a:noFill/>
                      <a:prstDash val="solid"/>
                    </a:lnB>
                    <a:solidFill>
                      <a:srgbClr val="404040"/>
                    </a:solidFill>
                  </a:tcPr>
                </a:tc>
                <a:tc hMerge="1">
                  <a:txBody>
                    <a:bodyPr/>
                    <a:lstStyle/>
                    <a:p>
                      <a:endParaRPr lang="en-ZA" sz="1400" cap="none" spc="0" dirty="0">
                        <a:solidFill>
                          <a:schemeClr val="bg1"/>
                        </a:solidFill>
                      </a:endParaRPr>
                    </a:p>
                  </a:txBody>
                  <a:tcPr marL="109429" marR="109429" marT="109429" marB="54715">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3097908338"/>
                  </a:ext>
                </a:extLst>
              </a:tr>
            </a:tbl>
          </a:graphicData>
        </a:graphic>
      </p:graphicFrame>
    </p:spTree>
    <p:extLst>
      <p:ext uri="{BB962C8B-B14F-4D97-AF65-F5344CB8AC3E}">
        <p14:creationId xmlns:p14="http://schemas.microsoft.com/office/powerpoint/2010/main" val="1761071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FD79-5742-02BE-7CD7-D2842E191921}"/>
              </a:ext>
            </a:extLst>
          </p:cNvPr>
          <p:cNvSpPr>
            <a:spLocks noGrp="1"/>
          </p:cNvSpPr>
          <p:nvPr>
            <p:ph type="title"/>
          </p:nvPr>
        </p:nvSpPr>
        <p:spPr>
          <a:xfrm>
            <a:off x="838200" y="136525"/>
            <a:ext cx="10515600" cy="1092507"/>
          </a:xfrm>
        </p:spPr>
        <p:txBody>
          <a:bodyPr/>
          <a:lstStyle/>
          <a:p>
            <a:pPr algn="ctr"/>
            <a:r>
              <a:rPr lang="en-ZA" b="1" dirty="0"/>
              <a:t>Cost Analysis:</a:t>
            </a:r>
          </a:p>
        </p:txBody>
      </p:sp>
      <p:sp>
        <p:nvSpPr>
          <p:cNvPr id="3" name="Date Placeholder 2">
            <a:extLst>
              <a:ext uri="{FF2B5EF4-FFF2-40B4-BE49-F238E27FC236}">
                <a16:creationId xmlns:a16="http://schemas.microsoft.com/office/drawing/2014/main" id="{E34E5C27-F630-8682-EA70-66DAD8C1E112}"/>
              </a:ext>
            </a:extLst>
          </p:cNvPr>
          <p:cNvSpPr>
            <a:spLocks noGrp="1"/>
          </p:cNvSpPr>
          <p:nvPr>
            <p:ph type="dt" sz="half" idx="10"/>
          </p:nvPr>
        </p:nvSpPr>
        <p:spPr/>
        <p:txBody>
          <a:bodyPr/>
          <a:lstStyle/>
          <a:p>
            <a:fld id="{D086676F-759F-41A6-ABFE-5604A316DF99}" type="datetime1">
              <a:rPr lang="en-ZA" smtClean="0"/>
              <a:t>2025/11/17</a:t>
            </a:fld>
            <a:endParaRPr lang="en-ZA"/>
          </a:p>
        </p:txBody>
      </p:sp>
      <p:sp>
        <p:nvSpPr>
          <p:cNvPr id="4" name="Slide Number Placeholder 3">
            <a:extLst>
              <a:ext uri="{FF2B5EF4-FFF2-40B4-BE49-F238E27FC236}">
                <a16:creationId xmlns:a16="http://schemas.microsoft.com/office/drawing/2014/main" id="{0E76A7E6-1435-3C86-B72A-CC8878218E93}"/>
              </a:ext>
            </a:extLst>
          </p:cNvPr>
          <p:cNvSpPr>
            <a:spLocks noGrp="1"/>
          </p:cNvSpPr>
          <p:nvPr>
            <p:ph type="sldNum" sz="quarter" idx="12"/>
          </p:nvPr>
        </p:nvSpPr>
        <p:spPr/>
        <p:txBody>
          <a:bodyPr/>
          <a:lstStyle/>
          <a:p>
            <a:fld id="{15BB2F74-E843-4E4A-AEB2-D2C26A532EC9}" type="slidenum">
              <a:rPr lang="en-ZA" sz="2000" b="1" smtClean="0">
                <a:solidFill>
                  <a:schemeClr val="tx1"/>
                </a:solidFill>
              </a:rPr>
              <a:t>9</a:t>
            </a:fld>
            <a:endParaRPr lang="en-ZA" sz="2000" b="1" dirty="0">
              <a:solidFill>
                <a:schemeClr val="tx1"/>
              </a:solidFill>
            </a:endParaRPr>
          </a:p>
        </p:txBody>
      </p:sp>
      <p:graphicFrame>
        <p:nvGraphicFramePr>
          <p:cNvPr id="6" name="Table 5">
            <a:extLst>
              <a:ext uri="{FF2B5EF4-FFF2-40B4-BE49-F238E27FC236}">
                <a16:creationId xmlns:a16="http://schemas.microsoft.com/office/drawing/2014/main" id="{5DD026EA-5665-2B2F-F52B-23B75CB4C1E2}"/>
              </a:ext>
            </a:extLst>
          </p:cNvPr>
          <p:cNvGraphicFramePr>
            <a:graphicFrameLocks noGrp="1"/>
          </p:cNvGraphicFramePr>
          <p:nvPr>
            <p:extLst>
              <p:ext uri="{D42A27DB-BD31-4B8C-83A1-F6EECF244321}">
                <p14:modId xmlns:p14="http://schemas.microsoft.com/office/powerpoint/2010/main" val="357042005"/>
              </p:ext>
            </p:extLst>
          </p:nvPr>
        </p:nvGraphicFramePr>
        <p:xfrm>
          <a:off x="144378" y="926144"/>
          <a:ext cx="11934551" cy="5430203"/>
        </p:xfrm>
        <a:graphic>
          <a:graphicData uri="http://schemas.openxmlformats.org/drawingml/2006/table">
            <a:tbl>
              <a:tblPr firstRow="1" bandRow="1">
                <a:tableStyleId>{21E4AEA4-8DFA-4A89-87EB-49C32662AFE0}</a:tableStyleId>
              </a:tblPr>
              <a:tblGrid>
                <a:gridCol w="2837214">
                  <a:extLst>
                    <a:ext uri="{9D8B030D-6E8A-4147-A177-3AD203B41FA5}">
                      <a16:colId xmlns:a16="http://schemas.microsoft.com/office/drawing/2014/main" val="1809546604"/>
                    </a:ext>
                  </a:extLst>
                </a:gridCol>
                <a:gridCol w="7592319">
                  <a:extLst>
                    <a:ext uri="{9D8B030D-6E8A-4147-A177-3AD203B41FA5}">
                      <a16:colId xmlns:a16="http://schemas.microsoft.com/office/drawing/2014/main" val="3116248699"/>
                    </a:ext>
                  </a:extLst>
                </a:gridCol>
                <a:gridCol w="1505018">
                  <a:extLst>
                    <a:ext uri="{9D8B030D-6E8A-4147-A177-3AD203B41FA5}">
                      <a16:colId xmlns:a16="http://schemas.microsoft.com/office/drawing/2014/main" val="4022136053"/>
                    </a:ext>
                  </a:extLst>
                </a:gridCol>
              </a:tblGrid>
              <a:tr h="649149">
                <a:tc>
                  <a:txBody>
                    <a:bodyPr/>
                    <a:lstStyle/>
                    <a:p>
                      <a:r>
                        <a:rPr lang="en-ZA" dirty="0"/>
                        <a:t>AWS COST ANALYSIS</a:t>
                      </a:r>
                    </a:p>
                  </a:txBody>
                  <a:tcPr/>
                </a:tc>
                <a:tc>
                  <a:txBody>
                    <a:bodyPr/>
                    <a:lstStyle/>
                    <a:p>
                      <a:r>
                        <a:rPr lang="en-ZA" dirty="0"/>
                        <a:t>SERVICES COST GAUGE</a:t>
                      </a:r>
                    </a:p>
                  </a:txBody>
                  <a:tcPr/>
                </a:tc>
                <a:tc>
                  <a:txBody>
                    <a:bodyPr/>
                    <a:lstStyle/>
                    <a:p>
                      <a:r>
                        <a:rPr lang="en-ZA" dirty="0"/>
                        <a:t>AMOUNT IN RANDS</a:t>
                      </a:r>
                    </a:p>
                  </a:txBody>
                  <a:tcPr/>
                </a:tc>
                <a:extLst>
                  <a:ext uri="{0D108BD9-81ED-4DB2-BD59-A6C34878D82A}">
                    <a16:rowId xmlns:a16="http://schemas.microsoft.com/office/drawing/2014/main" val="3419794895"/>
                  </a:ext>
                </a:extLst>
              </a:tr>
              <a:tr h="370942">
                <a:tc>
                  <a:txBody>
                    <a:bodyPr/>
                    <a:lstStyle/>
                    <a:p>
                      <a:r>
                        <a:rPr lang="en-ZA" sz="1800" kern="1200" dirty="0">
                          <a:solidFill>
                            <a:schemeClr val="dk1"/>
                          </a:solidFill>
                          <a:effectLst/>
                        </a:rPr>
                        <a:t>Amazon S3 </a:t>
                      </a:r>
                      <a:endParaRPr lang="en-ZA" dirty="0"/>
                    </a:p>
                  </a:txBody>
                  <a:tcPr/>
                </a:tc>
                <a:tc>
                  <a:txBody>
                    <a:bodyPr/>
                    <a:lstStyle/>
                    <a:p>
                      <a:r>
                        <a:rPr lang="en-ZA" sz="1800" kern="1200" dirty="0">
                          <a:solidFill>
                            <a:schemeClr val="dk1"/>
                          </a:solidFill>
                          <a:effectLst/>
                        </a:rPr>
                        <a:t>Low cost</a:t>
                      </a:r>
                      <a:endParaRPr lang="en-ZA" dirty="0"/>
                    </a:p>
                  </a:txBody>
                  <a:tcPr/>
                </a:tc>
                <a:tc>
                  <a:txBody>
                    <a:bodyPr/>
                    <a:lstStyle/>
                    <a:p>
                      <a:r>
                        <a:rPr lang="en-ZA" dirty="0"/>
                        <a:t>R4</a:t>
                      </a:r>
                    </a:p>
                  </a:txBody>
                  <a:tcPr/>
                </a:tc>
                <a:extLst>
                  <a:ext uri="{0D108BD9-81ED-4DB2-BD59-A6C34878D82A}">
                    <a16:rowId xmlns:a16="http://schemas.microsoft.com/office/drawing/2014/main" val="270788209"/>
                  </a:ext>
                </a:extLst>
              </a:tr>
              <a:tr h="649149">
                <a:tc>
                  <a:txBody>
                    <a:bodyPr/>
                    <a:lstStyle/>
                    <a:p>
                      <a:r>
                        <a:rPr lang="en-ZA" sz="1800" kern="1200" dirty="0">
                          <a:solidFill>
                            <a:schemeClr val="dk1"/>
                          </a:solidFill>
                          <a:effectLst/>
                        </a:rPr>
                        <a:t>Amazon CloudFront </a:t>
                      </a:r>
                      <a:endParaRPr lang="en-ZA" dirty="0"/>
                    </a:p>
                  </a:txBody>
                  <a:tcPr/>
                </a:tc>
                <a:tc>
                  <a:txBody>
                    <a:bodyPr/>
                    <a:lstStyle/>
                    <a:p>
                      <a:r>
                        <a:rPr lang="en-ZA" sz="1800" kern="1200" dirty="0">
                          <a:solidFill>
                            <a:schemeClr val="dk1"/>
                          </a:solidFill>
                          <a:effectLst/>
                        </a:rPr>
                        <a:t>Most expensive</a:t>
                      </a:r>
                      <a:endParaRPr lang="en-ZA" dirty="0"/>
                    </a:p>
                  </a:txBody>
                  <a:tcPr/>
                </a:tc>
                <a:tc>
                  <a:txBody>
                    <a:bodyPr/>
                    <a:lstStyle/>
                    <a:p>
                      <a:r>
                        <a:rPr lang="en-ZA" dirty="0"/>
                        <a:t>R470</a:t>
                      </a:r>
                    </a:p>
                  </a:txBody>
                  <a:tcPr/>
                </a:tc>
                <a:extLst>
                  <a:ext uri="{0D108BD9-81ED-4DB2-BD59-A6C34878D82A}">
                    <a16:rowId xmlns:a16="http://schemas.microsoft.com/office/drawing/2014/main" val="3670533291"/>
                  </a:ext>
                </a:extLst>
              </a:tr>
              <a:tr h="433872">
                <a:tc>
                  <a:txBody>
                    <a:bodyPr/>
                    <a:lstStyle/>
                    <a:p>
                      <a:r>
                        <a:rPr lang="en-ZA" sz="1800" kern="1200" dirty="0">
                          <a:solidFill>
                            <a:schemeClr val="dk1"/>
                          </a:solidFill>
                          <a:effectLst/>
                        </a:rPr>
                        <a:t>Amazon Route 53 </a:t>
                      </a:r>
                      <a:endParaRPr lang="en-ZA" dirty="0"/>
                    </a:p>
                  </a:txBody>
                  <a:tcPr/>
                </a:tc>
                <a:tc>
                  <a:txBody>
                    <a:bodyPr/>
                    <a:lstStyle/>
                    <a:p>
                      <a:r>
                        <a:rPr lang="en-ZA" sz="1800" kern="1200" dirty="0">
                          <a:solidFill>
                            <a:schemeClr val="dk1"/>
                          </a:solidFill>
                          <a:effectLst/>
                        </a:rPr>
                        <a:t>Low cost</a:t>
                      </a:r>
                      <a:endParaRPr lang="en-ZA" dirty="0"/>
                    </a:p>
                  </a:txBody>
                  <a:tcPr/>
                </a:tc>
                <a:tc>
                  <a:txBody>
                    <a:bodyPr/>
                    <a:lstStyle/>
                    <a:p>
                      <a:r>
                        <a:rPr lang="en-ZA" dirty="0"/>
                        <a:t>R16</a:t>
                      </a:r>
                    </a:p>
                  </a:txBody>
                  <a:tcPr/>
                </a:tc>
                <a:extLst>
                  <a:ext uri="{0D108BD9-81ED-4DB2-BD59-A6C34878D82A}">
                    <a16:rowId xmlns:a16="http://schemas.microsoft.com/office/drawing/2014/main" val="2857815678"/>
                  </a:ext>
                </a:extLst>
              </a:tr>
              <a:tr h="390465">
                <a:tc>
                  <a:txBody>
                    <a:bodyPr/>
                    <a:lstStyle/>
                    <a:p>
                      <a:r>
                        <a:rPr lang="en-ZA" sz="1800" kern="1200" dirty="0">
                          <a:solidFill>
                            <a:schemeClr val="dk1"/>
                          </a:solidFill>
                          <a:effectLst/>
                        </a:rPr>
                        <a:t>AWS Certificate Manager </a:t>
                      </a:r>
                      <a:endParaRPr lang="en-ZA" dirty="0"/>
                    </a:p>
                  </a:txBody>
                  <a:tcPr/>
                </a:tc>
                <a:tc>
                  <a:txBody>
                    <a:bodyPr/>
                    <a:lstStyle/>
                    <a:p>
                      <a:r>
                        <a:rPr lang="en-ZA" sz="1800" kern="1200" dirty="0">
                          <a:solidFill>
                            <a:schemeClr val="dk1"/>
                          </a:solidFill>
                          <a:effectLst/>
                        </a:rPr>
                        <a:t>Free tier</a:t>
                      </a:r>
                      <a:endParaRPr lang="en-ZA" dirty="0"/>
                    </a:p>
                  </a:txBody>
                  <a:tcPr/>
                </a:tc>
                <a:tc>
                  <a:txBody>
                    <a:bodyPr/>
                    <a:lstStyle/>
                    <a:p>
                      <a:r>
                        <a:rPr lang="en-ZA" dirty="0"/>
                        <a:t>R0</a:t>
                      </a:r>
                    </a:p>
                  </a:txBody>
                  <a:tcPr/>
                </a:tc>
                <a:extLst>
                  <a:ext uri="{0D108BD9-81ED-4DB2-BD59-A6C34878D82A}">
                    <a16:rowId xmlns:a16="http://schemas.microsoft.com/office/drawing/2014/main" val="1830669999"/>
                  </a:ext>
                </a:extLst>
              </a:tr>
              <a:tr h="374197">
                <a:tc>
                  <a:txBody>
                    <a:bodyPr/>
                    <a:lstStyle/>
                    <a:p>
                      <a:r>
                        <a:rPr lang="en-ZA" sz="1800" kern="1200" dirty="0">
                          <a:solidFill>
                            <a:schemeClr val="dk1"/>
                          </a:solidFill>
                          <a:effectLst/>
                        </a:rPr>
                        <a:t>Amazon API Gateway </a:t>
                      </a:r>
                      <a:endParaRPr lang="en-ZA" dirty="0"/>
                    </a:p>
                  </a:txBody>
                  <a:tcPr/>
                </a:tc>
                <a:tc>
                  <a:txBody>
                    <a:bodyPr/>
                    <a:lstStyle/>
                    <a:p>
                      <a:r>
                        <a:rPr lang="en-ZA" sz="1800" kern="1200" dirty="0">
                          <a:solidFill>
                            <a:schemeClr val="dk1"/>
                          </a:solidFill>
                          <a:effectLst/>
                        </a:rPr>
                        <a:t>Low cost</a:t>
                      </a:r>
                      <a:endParaRPr lang="en-ZA" dirty="0"/>
                    </a:p>
                  </a:txBody>
                  <a:tcPr/>
                </a:tc>
                <a:tc>
                  <a:txBody>
                    <a:bodyPr/>
                    <a:lstStyle/>
                    <a:p>
                      <a:r>
                        <a:rPr lang="en-ZA" dirty="0"/>
                        <a:t>R0.50</a:t>
                      </a:r>
                    </a:p>
                  </a:txBody>
                  <a:tcPr/>
                </a:tc>
                <a:extLst>
                  <a:ext uri="{0D108BD9-81ED-4DB2-BD59-A6C34878D82A}">
                    <a16:rowId xmlns:a16="http://schemas.microsoft.com/office/drawing/2014/main" val="4075929434"/>
                  </a:ext>
                </a:extLst>
              </a:tr>
              <a:tr h="370942">
                <a:tc>
                  <a:txBody>
                    <a:bodyPr/>
                    <a:lstStyle/>
                    <a:p>
                      <a:r>
                        <a:rPr lang="en-ZA" sz="1800" kern="1200" dirty="0">
                          <a:solidFill>
                            <a:schemeClr val="dk1"/>
                          </a:solidFill>
                          <a:effectLst/>
                        </a:rPr>
                        <a:t>AWS Lambda </a:t>
                      </a:r>
                      <a:endParaRPr lang="en-ZA" dirty="0"/>
                    </a:p>
                  </a:txBody>
                  <a:tcPr/>
                </a:tc>
                <a:tc>
                  <a:txBody>
                    <a:bodyPr/>
                    <a:lstStyle/>
                    <a:p>
                      <a:r>
                        <a:rPr lang="en-ZA" sz="1800" kern="1200" dirty="0">
                          <a:solidFill>
                            <a:schemeClr val="dk1"/>
                          </a:solidFill>
                          <a:effectLst/>
                        </a:rPr>
                        <a:t>Low cost</a:t>
                      </a:r>
                      <a:endParaRPr lang="en-ZA" dirty="0"/>
                    </a:p>
                  </a:txBody>
                  <a:tcPr/>
                </a:tc>
                <a:tc>
                  <a:txBody>
                    <a:bodyPr/>
                    <a:lstStyle/>
                    <a:p>
                      <a:r>
                        <a:rPr lang="en-ZA" dirty="0"/>
                        <a:t>R4.50</a:t>
                      </a:r>
                    </a:p>
                  </a:txBody>
                  <a:tcPr/>
                </a:tc>
                <a:extLst>
                  <a:ext uri="{0D108BD9-81ED-4DB2-BD59-A6C34878D82A}">
                    <a16:rowId xmlns:a16="http://schemas.microsoft.com/office/drawing/2014/main" val="3516421352"/>
                  </a:ext>
                </a:extLst>
              </a:tr>
              <a:tr h="426258">
                <a:tc>
                  <a:txBody>
                    <a:bodyPr/>
                    <a:lstStyle/>
                    <a:p>
                      <a:r>
                        <a:rPr lang="en-ZA" sz="1800" kern="1200" dirty="0">
                          <a:solidFill>
                            <a:schemeClr val="dk1"/>
                          </a:solidFill>
                          <a:effectLst/>
                        </a:rPr>
                        <a:t>Amazon DynamoDB </a:t>
                      </a:r>
                      <a:endParaRPr lang="en-ZA" dirty="0"/>
                    </a:p>
                  </a:txBody>
                  <a:tcPr/>
                </a:tc>
                <a:tc>
                  <a:txBody>
                    <a:bodyPr/>
                    <a:lstStyle/>
                    <a:p>
                      <a:r>
                        <a:rPr lang="en-ZA" sz="1800" kern="1200" dirty="0">
                          <a:solidFill>
                            <a:schemeClr val="dk1"/>
                          </a:solidFill>
                          <a:effectLst/>
                        </a:rPr>
                        <a:t>Low cost</a:t>
                      </a:r>
                      <a:endParaRPr lang="en-ZA" dirty="0"/>
                    </a:p>
                  </a:txBody>
                  <a:tcPr/>
                </a:tc>
                <a:tc>
                  <a:txBody>
                    <a:bodyPr/>
                    <a:lstStyle/>
                    <a:p>
                      <a:r>
                        <a:rPr lang="en-ZA" dirty="0"/>
                        <a:t>R48</a:t>
                      </a:r>
                    </a:p>
                  </a:txBody>
                  <a:tcPr/>
                </a:tc>
                <a:extLst>
                  <a:ext uri="{0D108BD9-81ED-4DB2-BD59-A6C34878D82A}">
                    <a16:rowId xmlns:a16="http://schemas.microsoft.com/office/drawing/2014/main" val="358678408"/>
                  </a:ext>
                </a:extLst>
              </a:tr>
              <a:tr h="374196">
                <a:tc>
                  <a:txBody>
                    <a:bodyPr/>
                    <a:lstStyle/>
                    <a:p>
                      <a:r>
                        <a:rPr lang="en-ZA" sz="1800" kern="1200" dirty="0">
                          <a:solidFill>
                            <a:schemeClr val="dk1"/>
                          </a:solidFill>
                          <a:effectLst/>
                        </a:rPr>
                        <a:t>Amazon Location Service </a:t>
                      </a:r>
                      <a:endParaRPr lang="en-ZA" dirty="0"/>
                    </a:p>
                  </a:txBody>
                  <a:tcPr/>
                </a:tc>
                <a:tc>
                  <a:txBody>
                    <a:bodyPr/>
                    <a:lstStyle/>
                    <a:p>
                      <a:r>
                        <a:rPr lang="en-ZA" sz="1800" kern="1200" dirty="0">
                          <a:solidFill>
                            <a:schemeClr val="dk1"/>
                          </a:solidFill>
                          <a:effectLst/>
                        </a:rPr>
                        <a:t>Free tier</a:t>
                      </a:r>
                      <a:endParaRPr lang="en-ZA" dirty="0"/>
                    </a:p>
                  </a:txBody>
                  <a:tcPr/>
                </a:tc>
                <a:tc>
                  <a:txBody>
                    <a:bodyPr/>
                    <a:lstStyle/>
                    <a:p>
                      <a:r>
                        <a:rPr lang="en-ZA" dirty="0"/>
                        <a:t>R0</a:t>
                      </a:r>
                    </a:p>
                  </a:txBody>
                  <a:tcPr/>
                </a:tc>
                <a:extLst>
                  <a:ext uri="{0D108BD9-81ED-4DB2-BD59-A6C34878D82A}">
                    <a16:rowId xmlns:a16="http://schemas.microsoft.com/office/drawing/2014/main" val="3853368357"/>
                  </a:ext>
                </a:extLst>
              </a:tr>
              <a:tr h="3709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kern="1200" dirty="0">
                          <a:solidFill>
                            <a:schemeClr val="dk1"/>
                          </a:solidFill>
                          <a:effectLst/>
                        </a:rPr>
                        <a:t>Amazon Cognito </a:t>
                      </a:r>
                      <a:endParaRPr lang="en-ZA" sz="1800" kern="1200" dirty="0">
                        <a:solidFill>
                          <a:schemeClr val="dk1"/>
                        </a:solidFill>
                        <a:effectLst/>
                        <a:latin typeface="+mn-lt"/>
                        <a:ea typeface="+mn-ea"/>
                        <a:cs typeface="+mn-cs"/>
                      </a:endParaRPr>
                    </a:p>
                  </a:txBody>
                  <a:tcPr/>
                </a:tc>
                <a:tc>
                  <a:txBody>
                    <a:bodyPr/>
                    <a:lstStyle/>
                    <a:p>
                      <a:r>
                        <a:rPr lang="en-ZA" sz="1800" kern="1200" dirty="0">
                          <a:solidFill>
                            <a:schemeClr val="dk1"/>
                          </a:solidFill>
                          <a:effectLst/>
                        </a:rPr>
                        <a:t>Free tier</a:t>
                      </a:r>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R0</a:t>
                      </a:r>
                    </a:p>
                  </a:txBody>
                  <a:tcPr/>
                </a:tc>
                <a:extLst>
                  <a:ext uri="{0D108BD9-81ED-4DB2-BD59-A6C34878D82A}">
                    <a16:rowId xmlns:a16="http://schemas.microsoft.com/office/drawing/2014/main" val="91716105"/>
                  </a:ext>
                </a:extLst>
              </a:tr>
              <a:tr h="3709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b="1" kern="1200" dirty="0">
                          <a:solidFill>
                            <a:schemeClr val="dk1"/>
                          </a:solidFill>
                          <a:effectLst/>
                        </a:rPr>
                        <a:t>Total monthly bill</a:t>
                      </a:r>
                      <a:endParaRPr lang="en-ZA" sz="1800" b="1" kern="1200" dirty="0">
                        <a:solidFill>
                          <a:schemeClr val="dk1"/>
                        </a:solidFill>
                        <a:effectLst/>
                        <a:latin typeface="+mn-lt"/>
                        <a:ea typeface="+mn-ea"/>
                        <a:cs typeface="+mn-cs"/>
                      </a:endParaRPr>
                    </a:p>
                  </a:txBody>
                  <a:tcPr/>
                </a:tc>
                <a:tc>
                  <a:txBody>
                    <a:bodyPr/>
                    <a:lstStyle/>
                    <a:p>
                      <a:endParaRPr lang="en-ZA"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b="1" dirty="0"/>
                        <a:t>R540 – R630</a:t>
                      </a:r>
                    </a:p>
                  </a:txBody>
                  <a:tcPr/>
                </a:tc>
                <a:extLst>
                  <a:ext uri="{0D108BD9-81ED-4DB2-BD59-A6C34878D82A}">
                    <a16:rowId xmlns:a16="http://schemas.microsoft.com/office/drawing/2014/main" val="3678791287"/>
                  </a:ext>
                </a:extLst>
              </a:tr>
              <a:tr h="649149">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ZA" sz="1800" kern="1200" dirty="0">
                        <a:solidFill>
                          <a:schemeClr val="dk1"/>
                        </a:solidFill>
                        <a:effectLst/>
                        <a:latin typeface="+mn-lt"/>
                        <a:ea typeface="+mn-ea"/>
                        <a:cs typeface="+mn-cs"/>
                      </a:endParaRPr>
                    </a:p>
                  </a:txBody>
                  <a:tcP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3571065214"/>
                  </a:ext>
                </a:extLst>
              </a:tr>
            </a:tbl>
          </a:graphicData>
        </a:graphic>
      </p:graphicFrame>
    </p:spTree>
    <p:extLst>
      <p:ext uri="{BB962C8B-B14F-4D97-AF65-F5344CB8AC3E}">
        <p14:creationId xmlns:p14="http://schemas.microsoft.com/office/powerpoint/2010/main" val="1761622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E0E30-EC46-A55A-5685-6505C7A9D3C7}"/>
              </a:ext>
            </a:extLst>
          </p:cNvPr>
          <p:cNvSpPr>
            <a:spLocks noGrp="1"/>
          </p:cNvSpPr>
          <p:nvPr>
            <p:ph type="title"/>
          </p:nvPr>
        </p:nvSpPr>
        <p:spPr/>
        <p:txBody>
          <a:bodyPr/>
          <a:lstStyle/>
          <a:p>
            <a:pPr algn="ctr"/>
            <a:r>
              <a:rPr lang="en-ZA" b="1" dirty="0"/>
              <a:t>Manual System VS AWS Migration:</a:t>
            </a:r>
          </a:p>
        </p:txBody>
      </p:sp>
      <p:sp>
        <p:nvSpPr>
          <p:cNvPr id="3" name="Date Placeholder 2">
            <a:extLst>
              <a:ext uri="{FF2B5EF4-FFF2-40B4-BE49-F238E27FC236}">
                <a16:creationId xmlns:a16="http://schemas.microsoft.com/office/drawing/2014/main" id="{696710DA-557B-4F0D-85C6-9280D34DE3B3}"/>
              </a:ext>
            </a:extLst>
          </p:cNvPr>
          <p:cNvSpPr>
            <a:spLocks noGrp="1"/>
          </p:cNvSpPr>
          <p:nvPr>
            <p:ph type="dt" sz="half" idx="10"/>
          </p:nvPr>
        </p:nvSpPr>
        <p:spPr/>
        <p:txBody>
          <a:bodyPr/>
          <a:lstStyle/>
          <a:p>
            <a:fld id="{D9AF029C-C734-4EB8-ABD3-C0E3B1EEFE82}" type="datetime1">
              <a:rPr lang="en-ZA" smtClean="0"/>
              <a:t>2025/11/17</a:t>
            </a:fld>
            <a:endParaRPr lang="en-ZA"/>
          </a:p>
        </p:txBody>
      </p:sp>
      <p:sp>
        <p:nvSpPr>
          <p:cNvPr id="4" name="Slide Number Placeholder 3">
            <a:extLst>
              <a:ext uri="{FF2B5EF4-FFF2-40B4-BE49-F238E27FC236}">
                <a16:creationId xmlns:a16="http://schemas.microsoft.com/office/drawing/2014/main" id="{05EEBCDC-D851-3425-E29D-69BF832EEE58}"/>
              </a:ext>
            </a:extLst>
          </p:cNvPr>
          <p:cNvSpPr>
            <a:spLocks noGrp="1"/>
          </p:cNvSpPr>
          <p:nvPr>
            <p:ph type="sldNum" sz="quarter" idx="12"/>
          </p:nvPr>
        </p:nvSpPr>
        <p:spPr/>
        <p:txBody>
          <a:bodyPr/>
          <a:lstStyle/>
          <a:p>
            <a:fld id="{15BB2F74-E843-4E4A-AEB2-D2C26A532EC9}" type="slidenum">
              <a:rPr lang="en-ZA" sz="2000" b="1" smtClean="0">
                <a:solidFill>
                  <a:schemeClr val="tx1"/>
                </a:solidFill>
              </a:rPr>
              <a:t>10</a:t>
            </a:fld>
            <a:endParaRPr lang="en-ZA" sz="2000" b="1" dirty="0">
              <a:solidFill>
                <a:schemeClr val="tx1"/>
              </a:solidFill>
            </a:endParaRPr>
          </a:p>
        </p:txBody>
      </p:sp>
      <p:graphicFrame>
        <p:nvGraphicFramePr>
          <p:cNvPr id="8" name="Table 7">
            <a:extLst>
              <a:ext uri="{FF2B5EF4-FFF2-40B4-BE49-F238E27FC236}">
                <a16:creationId xmlns:a16="http://schemas.microsoft.com/office/drawing/2014/main" id="{867E4EED-AD79-AE57-49D7-71C0A9A4B2D8}"/>
              </a:ext>
            </a:extLst>
          </p:cNvPr>
          <p:cNvGraphicFramePr>
            <a:graphicFrameLocks noGrp="1"/>
          </p:cNvGraphicFramePr>
          <p:nvPr>
            <p:extLst>
              <p:ext uri="{D42A27DB-BD31-4B8C-83A1-F6EECF244321}">
                <p14:modId xmlns:p14="http://schemas.microsoft.com/office/powerpoint/2010/main" val="3243993796"/>
              </p:ext>
            </p:extLst>
          </p:nvPr>
        </p:nvGraphicFramePr>
        <p:xfrm>
          <a:off x="1150374" y="5861725"/>
          <a:ext cx="10068232" cy="370840"/>
        </p:xfrm>
        <a:graphic>
          <a:graphicData uri="http://schemas.openxmlformats.org/drawingml/2006/table">
            <a:tbl>
              <a:tblPr firstRow="1" bandRow="1">
                <a:tableStyleId>{21E4AEA4-8DFA-4A89-87EB-49C32662AFE0}</a:tableStyleId>
              </a:tblPr>
              <a:tblGrid>
                <a:gridCol w="5034116">
                  <a:extLst>
                    <a:ext uri="{9D8B030D-6E8A-4147-A177-3AD203B41FA5}">
                      <a16:colId xmlns:a16="http://schemas.microsoft.com/office/drawing/2014/main" val="172964444"/>
                    </a:ext>
                  </a:extLst>
                </a:gridCol>
                <a:gridCol w="5034116">
                  <a:extLst>
                    <a:ext uri="{9D8B030D-6E8A-4147-A177-3AD203B41FA5}">
                      <a16:colId xmlns:a16="http://schemas.microsoft.com/office/drawing/2014/main" val="1915529990"/>
                    </a:ext>
                  </a:extLst>
                </a:gridCol>
              </a:tblGrid>
              <a:tr h="370840">
                <a:tc>
                  <a:txBody>
                    <a:bodyPr/>
                    <a:lstStyle/>
                    <a:p>
                      <a:r>
                        <a:rPr lang="en-ZA" dirty="0"/>
                        <a:t>Manual system costs +R6000 monthly</a:t>
                      </a:r>
                    </a:p>
                  </a:txBody>
                  <a:tcPr/>
                </a:tc>
                <a:tc>
                  <a:txBody>
                    <a:bodyPr/>
                    <a:lstStyle/>
                    <a:p>
                      <a:r>
                        <a:rPr lang="en-ZA" dirty="0"/>
                        <a:t>AWS Migration costs –R1000 monthly</a:t>
                      </a:r>
                    </a:p>
                  </a:txBody>
                  <a:tcPr/>
                </a:tc>
                <a:extLst>
                  <a:ext uri="{0D108BD9-81ED-4DB2-BD59-A6C34878D82A}">
                    <a16:rowId xmlns:a16="http://schemas.microsoft.com/office/drawing/2014/main" val="2445689706"/>
                  </a:ext>
                </a:extLst>
              </a:tr>
            </a:tbl>
          </a:graphicData>
        </a:graphic>
      </p:graphicFrame>
      <p:pic>
        <p:nvPicPr>
          <p:cNvPr id="9" name="Picture 8">
            <a:extLst>
              <a:ext uri="{FF2B5EF4-FFF2-40B4-BE49-F238E27FC236}">
                <a16:creationId xmlns:a16="http://schemas.microsoft.com/office/drawing/2014/main" id="{84A2C767-D915-E022-5CD9-65B5F79F4419}"/>
              </a:ext>
            </a:extLst>
          </p:cNvPr>
          <p:cNvPicPr>
            <a:picLocks noChangeAspect="1"/>
          </p:cNvPicPr>
          <p:nvPr/>
        </p:nvPicPr>
        <p:blipFill>
          <a:blip r:embed="rId3"/>
          <a:stretch>
            <a:fillRect/>
          </a:stretch>
        </p:blipFill>
        <p:spPr>
          <a:xfrm>
            <a:off x="1150375" y="1258529"/>
            <a:ext cx="10068232" cy="4573911"/>
          </a:xfrm>
          <a:prstGeom prst="rect">
            <a:avLst/>
          </a:prstGeom>
        </p:spPr>
      </p:pic>
    </p:spTree>
    <p:extLst>
      <p:ext uri="{BB962C8B-B14F-4D97-AF65-F5344CB8AC3E}">
        <p14:creationId xmlns:p14="http://schemas.microsoft.com/office/powerpoint/2010/main" val="914191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CFFF99-F201-8241-EFCF-9F77BD823023}"/>
              </a:ext>
            </a:extLst>
          </p:cNvPr>
          <p:cNvSpPr>
            <a:spLocks noGrp="1"/>
          </p:cNvSpPr>
          <p:nvPr>
            <p:ph type="title"/>
          </p:nvPr>
        </p:nvSpPr>
        <p:spPr>
          <a:xfrm>
            <a:off x="757814" y="83854"/>
            <a:ext cx="10515600" cy="1325563"/>
          </a:xfrm>
        </p:spPr>
        <p:txBody>
          <a:bodyPr/>
          <a:lstStyle/>
          <a:p>
            <a:pPr algn="ctr"/>
            <a:r>
              <a:rPr lang="en-ZA" b="1" dirty="0"/>
              <a:t>Benefits of Moving to AWS:</a:t>
            </a:r>
          </a:p>
        </p:txBody>
      </p:sp>
      <p:sp>
        <p:nvSpPr>
          <p:cNvPr id="2" name="Date Placeholder 1">
            <a:extLst>
              <a:ext uri="{FF2B5EF4-FFF2-40B4-BE49-F238E27FC236}">
                <a16:creationId xmlns:a16="http://schemas.microsoft.com/office/drawing/2014/main" id="{ADFBAF31-9C0A-9944-AAEF-13A0390F792E}"/>
              </a:ext>
            </a:extLst>
          </p:cNvPr>
          <p:cNvSpPr>
            <a:spLocks noGrp="1"/>
          </p:cNvSpPr>
          <p:nvPr>
            <p:ph type="dt" sz="half" idx="10"/>
          </p:nvPr>
        </p:nvSpPr>
        <p:spPr/>
        <p:txBody>
          <a:bodyPr/>
          <a:lstStyle/>
          <a:p>
            <a:fld id="{51CF43B3-2730-49B1-901F-6831AE1548B5}" type="datetime1">
              <a:rPr lang="en-ZA" smtClean="0"/>
              <a:t>2025/11/17</a:t>
            </a:fld>
            <a:endParaRPr lang="en-ZA"/>
          </a:p>
        </p:txBody>
      </p:sp>
      <p:sp>
        <p:nvSpPr>
          <p:cNvPr id="3" name="Slide Number Placeholder 2">
            <a:extLst>
              <a:ext uri="{FF2B5EF4-FFF2-40B4-BE49-F238E27FC236}">
                <a16:creationId xmlns:a16="http://schemas.microsoft.com/office/drawing/2014/main" id="{4F5ED0CA-B5B0-514D-55E8-3F32A0F9E32A}"/>
              </a:ext>
            </a:extLst>
          </p:cNvPr>
          <p:cNvSpPr>
            <a:spLocks noGrp="1"/>
          </p:cNvSpPr>
          <p:nvPr>
            <p:ph type="sldNum" sz="quarter" idx="12"/>
          </p:nvPr>
        </p:nvSpPr>
        <p:spPr/>
        <p:txBody>
          <a:bodyPr/>
          <a:lstStyle/>
          <a:p>
            <a:fld id="{15BB2F74-E843-4E4A-AEB2-D2C26A532EC9}" type="slidenum">
              <a:rPr lang="en-ZA" sz="2000" b="1" smtClean="0">
                <a:solidFill>
                  <a:schemeClr val="tx1"/>
                </a:solidFill>
              </a:rPr>
              <a:t>11</a:t>
            </a:fld>
            <a:endParaRPr lang="en-ZA" sz="2000" b="1" dirty="0">
              <a:solidFill>
                <a:schemeClr val="tx1"/>
              </a:solidFill>
            </a:endParaRPr>
          </a:p>
        </p:txBody>
      </p:sp>
      <p:sp>
        <p:nvSpPr>
          <p:cNvPr id="7" name="TextBox 6">
            <a:extLst>
              <a:ext uri="{FF2B5EF4-FFF2-40B4-BE49-F238E27FC236}">
                <a16:creationId xmlns:a16="http://schemas.microsoft.com/office/drawing/2014/main" id="{712E8882-9840-0CD0-7696-13058A238BDE}"/>
              </a:ext>
            </a:extLst>
          </p:cNvPr>
          <p:cNvSpPr txBox="1"/>
          <p:nvPr/>
        </p:nvSpPr>
        <p:spPr>
          <a:xfrm>
            <a:off x="164123" y="1605553"/>
            <a:ext cx="5382567" cy="3775072"/>
          </a:xfrm>
          <a:prstGeom prst="rect">
            <a:avLst/>
          </a:prstGeom>
          <a:noFill/>
        </p:spPr>
        <p:txBody>
          <a:bodyPr wrap="square">
            <a:spAutoFit/>
          </a:bodyPr>
          <a:lstStyle/>
          <a:p>
            <a:pPr marL="285750" indent="-285750">
              <a:lnSpc>
                <a:spcPct val="115000"/>
              </a:lnSpc>
              <a:spcAft>
                <a:spcPts val="800"/>
              </a:spcAft>
              <a:buFont typeface="Wingdings" panose="05000000000000000000" pitchFamily="2" charset="2"/>
              <a:buChar char="Ø"/>
            </a:pPr>
            <a:r>
              <a:rPr lang="en-ZA" sz="1800" kern="100" dirty="0">
                <a:effectLst/>
                <a:latin typeface="Aptos" panose="020B0004020202020204" pitchFamily="34" charset="0"/>
                <a:ea typeface="Aptos" panose="020B0004020202020204" pitchFamily="34" charset="0"/>
                <a:cs typeface="Times New Roman" panose="02020603050405020304" pitchFamily="18" charset="0"/>
              </a:rPr>
              <a:t>Speed – CloudFront serves pages in seconds worldwide.</a:t>
            </a:r>
          </a:p>
          <a:p>
            <a:pPr marL="285750" indent="-285750">
              <a:lnSpc>
                <a:spcPct val="115000"/>
              </a:lnSpc>
              <a:spcAft>
                <a:spcPts val="800"/>
              </a:spcAft>
              <a:buFont typeface="Wingdings" panose="05000000000000000000" pitchFamily="2" charset="2"/>
              <a:buChar char="Ø"/>
            </a:pPr>
            <a:r>
              <a:rPr lang="en-ZA" sz="1800" kern="100" dirty="0">
                <a:effectLst/>
                <a:latin typeface="Aptos" panose="020B0004020202020204" pitchFamily="34" charset="0"/>
                <a:ea typeface="Aptos" panose="020B0004020202020204" pitchFamily="34" charset="0"/>
                <a:cs typeface="Times New Roman" panose="02020603050405020304" pitchFamily="18" charset="0"/>
              </a:rPr>
              <a:t>Reliability – 99.9</a:t>
            </a:r>
            <a:r>
              <a:rPr lang="en-ZA" sz="1800" kern="100" dirty="0">
                <a:effectLst/>
                <a:latin typeface="Arial" panose="020B0604020202020204" pitchFamily="34" charset="0"/>
                <a:ea typeface="Aptos" panose="020B0004020202020204" pitchFamily="34" charset="0"/>
                <a:cs typeface="Times New Roman" panose="02020603050405020304" pitchFamily="18" charset="0"/>
              </a:rPr>
              <a:t> </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 uptime, automatic fail</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over.</a:t>
            </a:r>
          </a:p>
          <a:p>
            <a:pPr marL="285750" indent="-285750">
              <a:lnSpc>
                <a:spcPct val="115000"/>
              </a:lnSpc>
              <a:spcAft>
                <a:spcPts val="800"/>
              </a:spcAft>
              <a:buFont typeface="Wingdings" panose="05000000000000000000" pitchFamily="2" charset="2"/>
              <a:buChar char="Ø"/>
            </a:pPr>
            <a:r>
              <a:rPr lang="en-ZA" sz="1800" kern="100" dirty="0">
                <a:effectLst/>
                <a:latin typeface="Aptos" panose="020B0004020202020204" pitchFamily="34" charset="0"/>
                <a:ea typeface="Aptos" panose="020B0004020202020204" pitchFamily="34" charset="0"/>
                <a:cs typeface="Times New Roman" panose="02020603050405020304" pitchFamily="18" charset="0"/>
              </a:rPr>
              <a:t>Security – Built</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in encryption, IAM, free SSL.</a:t>
            </a:r>
          </a:p>
          <a:p>
            <a:pPr marL="285750" indent="-285750">
              <a:lnSpc>
                <a:spcPct val="115000"/>
              </a:lnSpc>
              <a:spcAft>
                <a:spcPts val="800"/>
              </a:spcAft>
              <a:buFont typeface="Wingdings" panose="05000000000000000000" pitchFamily="2" charset="2"/>
              <a:buChar char="Ø"/>
            </a:pPr>
            <a:r>
              <a:rPr lang="en-ZA" sz="1800" kern="100" dirty="0">
                <a:effectLst/>
                <a:latin typeface="Aptos" panose="020B0004020202020204" pitchFamily="34" charset="0"/>
                <a:ea typeface="Aptos" panose="020B0004020202020204" pitchFamily="34" charset="0"/>
                <a:cs typeface="Times New Roman" panose="02020603050405020304" pitchFamily="18" charset="0"/>
              </a:rPr>
              <a:t>Scalability – Handle peak nights without extra staff.</a:t>
            </a:r>
          </a:p>
          <a:p>
            <a:pPr marL="285750" indent="-285750">
              <a:lnSpc>
                <a:spcPct val="115000"/>
              </a:lnSpc>
              <a:spcAft>
                <a:spcPts val="800"/>
              </a:spcAft>
              <a:buFont typeface="Wingdings" panose="05000000000000000000" pitchFamily="2" charset="2"/>
              <a:buChar char="Ø"/>
            </a:pPr>
            <a:r>
              <a:rPr lang="en-ZA" sz="1800" kern="100" dirty="0">
                <a:effectLst/>
                <a:latin typeface="Aptos" panose="020B0004020202020204" pitchFamily="34" charset="0"/>
                <a:ea typeface="Aptos" panose="020B0004020202020204" pitchFamily="34" charset="0"/>
                <a:cs typeface="Times New Roman" panose="02020603050405020304" pitchFamily="18" charset="0"/>
              </a:rPr>
              <a:t>Cost</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control </a:t>
            </a:r>
            <a:r>
              <a:rPr lang="en-ZA" sz="1800" kern="100" dirty="0">
                <a:effectLst/>
                <a:latin typeface="Aptos" panose="020B0004020202020204" pitchFamily="34" charset="0"/>
                <a:ea typeface="Aptos" panose="020B0004020202020204" pitchFamily="34" charset="0"/>
                <a:cs typeface="Aptos" panose="020B0004020202020204" pitchFamily="34"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 Pay</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as</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you</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go, ~R540</a:t>
            </a:r>
            <a:r>
              <a:rPr lang="en-ZA" sz="1800" kern="100" dirty="0">
                <a:effectLst/>
                <a:latin typeface="Cambria Math" panose="02040503050406030204" pitchFamily="18" charset="0"/>
                <a:ea typeface="Aptos" panose="020B0004020202020204" pitchFamily="34" charset="0"/>
                <a:cs typeface="Cambria Math" panose="02040503050406030204" pitchFamily="18" charset="0"/>
              </a:rPr>
              <a:t>‑</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R630</a:t>
            </a:r>
            <a:r>
              <a:rPr lang="en-ZA" sz="1800" kern="100" dirty="0">
                <a:effectLst/>
                <a:latin typeface="Arial" panose="020B0604020202020204" pitchFamily="34" charset="0"/>
                <a:ea typeface="Aptos" panose="020B0004020202020204" pitchFamily="34" charset="0"/>
                <a:cs typeface="Times New Roman" panose="02020603050405020304" pitchFamily="18" charset="0"/>
              </a:rPr>
              <a:t> </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a:t>
            </a:r>
            <a:r>
              <a:rPr lang="en-ZA" sz="1800" kern="100" dirty="0">
                <a:effectLst/>
                <a:latin typeface="Arial" panose="020B0604020202020204" pitchFamily="34" charset="0"/>
                <a:ea typeface="Aptos" panose="020B0004020202020204" pitchFamily="34" charset="0"/>
                <a:cs typeface="Times New Roman" panose="02020603050405020304" pitchFamily="18" charset="0"/>
              </a:rPr>
              <a:t> </a:t>
            </a:r>
            <a:r>
              <a:rPr lang="en-ZA" sz="1800" kern="100" dirty="0">
                <a:effectLst/>
                <a:latin typeface="Aptos" panose="020B0004020202020204" pitchFamily="34" charset="0"/>
                <a:ea typeface="Aptos" panose="020B0004020202020204" pitchFamily="34" charset="0"/>
                <a:cs typeface="Times New Roman" panose="02020603050405020304" pitchFamily="18" charset="0"/>
              </a:rPr>
              <a:t>month.</a:t>
            </a:r>
          </a:p>
          <a:p>
            <a:pPr marL="285750" indent="-285750">
              <a:lnSpc>
                <a:spcPct val="115000"/>
              </a:lnSpc>
              <a:spcAft>
                <a:spcPts val="800"/>
              </a:spcAft>
              <a:buFont typeface="Wingdings" panose="05000000000000000000" pitchFamily="2" charset="2"/>
              <a:buChar char="Ø"/>
            </a:pPr>
            <a:r>
              <a:rPr lang="en-ZA" sz="1800" kern="100" dirty="0">
                <a:effectLst/>
                <a:latin typeface="Aptos" panose="020B0004020202020204" pitchFamily="34" charset="0"/>
                <a:ea typeface="Aptos" panose="020B0004020202020204" pitchFamily="34" charset="0"/>
                <a:cs typeface="Times New Roman" panose="02020603050405020304" pitchFamily="18" charset="0"/>
              </a:rPr>
              <a:t>Managed services – No server patching, backups handled.</a:t>
            </a:r>
          </a:p>
        </p:txBody>
      </p:sp>
      <p:pic>
        <p:nvPicPr>
          <p:cNvPr id="11" name="Picture 10">
            <a:extLst>
              <a:ext uri="{FF2B5EF4-FFF2-40B4-BE49-F238E27FC236}">
                <a16:creationId xmlns:a16="http://schemas.microsoft.com/office/drawing/2014/main" id="{3BB68EBE-7730-E9B0-A159-D36501214982}"/>
              </a:ext>
            </a:extLst>
          </p:cNvPr>
          <p:cNvPicPr>
            <a:picLocks noChangeAspect="1"/>
          </p:cNvPicPr>
          <p:nvPr/>
        </p:nvPicPr>
        <p:blipFill>
          <a:blip r:embed="rId3"/>
          <a:stretch>
            <a:fillRect/>
          </a:stretch>
        </p:blipFill>
        <p:spPr>
          <a:xfrm>
            <a:off x="5329084" y="1012723"/>
            <a:ext cx="6794090" cy="5171767"/>
          </a:xfrm>
          <a:prstGeom prst="rect">
            <a:avLst/>
          </a:prstGeom>
        </p:spPr>
      </p:pic>
    </p:spTree>
    <p:extLst>
      <p:ext uri="{BB962C8B-B14F-4D97-AF65-F5344CB8AC3E}">
        <p14:creationId xmlns:p14="http://schemas.microsoft.com/office/powerpoint/2010/main" val="171280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AE697-56BA-1137-9AC4-4E0A378B4255}"/>
              </a:ext>
            </a:extLst>
          </p:cNvPr>
          <p:cNvSpPr>
            <a:spLocks noGrp="1"/>
          </p:cNvSpPr>
          <p:nvPr>
            <p:ph type="ctrTitle"/>
          </p:nvPr>
        </p:nvSpPr>
        <p:spPr>
          <a:xfrm>
            <a:off x="1272791" y="306194"/>
            <a:ext cx="9144000" cy="1982613"/>
          </a:xfrm>
        </p:spPr>
        <p:txBody>
          <a:bodyPr>
            <a:normAutofit/>
          </a:bodyPr>
          <a:lstStyle/>
          <a:p>
            <a:pPr algn="ctr"/>
            <a:r>
              <a:rPr lang="en-ZA" b="1" dirty="0"/>
              <a:t>Conclusion:</a:t>
            </a:r>
            <a:br>
              <a:rPr lang="en-ZA" b="1" dirty="0"/>
            </a:br>
            <a:r>
              <a:rPr lang="en-US" sz="3600" b="1" dirty="0"/>
              <a:t>What we learned from moving to AWS as a business:</a:t>
            </a:r>
            <a:endParaRPr lang="en-ZA" sz="3600" b="1" dirty="0"/>
          </a:p>
        </p:txBody>
      </p:sp>
      <p:sp>
        <p:nvSpPr>
          <p:cNvPr id="3" name="Content Placeholder 2">
            <a:extLst>
              <a:ext uri="{FF2B5EF4-FFF2-40B4-BE49-F238E27FC236}">
                <a16:creationId xmlns:a16="http://schemas.microsoft.com/office/drawing/2014/main" id="{A60DF8E0-6DCD-01FB-6CED-E2A63E81ABE2}"/>
              </a:ext>
            </a:extLst>
          </p:cNvPr>
          <p:cNvSpPr>
            <a:spLocks noGrp="1"/>
          </p:cNvSpPr>
          <p:nvPr>
            <p:ph type="subTitle" idx="1"/>
          </p:nvPr>
        </p:nvSpPr>
        <p:spPr>
          <a:xfrm>
            <a:off x="1524000" y="2288807"/>
            <a:ext cx="9144000" cy="2968993"/>
          </a:xfrm>
        </p:spPr>
        <p:txBody>
          <a:bodyPr>
            <a:normAutofit/>
          </a:bodyPr>
          <a:lstStyle/>
          <a:p>
            <a:pPr algn="l">
              <a:buFont typeface="Wingdings" panose="05000000000000000000" pitchFamily="2" charset="2"/>
              <a:buChar char="Ø"/>
            </a:pPr>
            <a:r>
              <a:rPr lang="en-US" dirty="0"/>
              <a:t> Switched from paper notes to AWS.</a:t>
            </a:r>
          </a:p>
          <a:p>
            <a:pPr algn="l">
              <a:buFont typeface="Wingdings" panose="05000000000000000000" pitchFamily="2" charset="2"/>
              <a:buChar char="Ø"/>
            </a:pPr>
            <a:r>
              <a:rPr lang="en-US" dirty="0"/>
              <a:t>Monthly cost dropped from ~R 6 000 to ~R 540‑R 600.</a:t>
            </a:r>
          </a:p>
          <a:p>
            <a:pPr algn="l">
              <a:buFont typeface="Wingdings" panose="05000000000000000000" pitchFamily="2" charset="2"/>
              <a:buChar char="Ø"/>
            </a:pPr>
            <a:r>
              <a:rPr lang="en-US" dirty="0"/>
              <a:t>System uptime stays at 99.9 % even during peak times.</a:t>
            </a:r>
          </a:p>
          <a:p>
            <a:pPr algn="l">
              <a:buFont typeface="Wingdings" panose="05000000000000000000" pitchFamily="2" charset="2"/>
              <a:buChar char="Ø"/>
            </a:pPr>
            <a:r>
              <a:rPr lang="en-US" dirty="0"/>
              <a:t>Scale compute with a single click – no new hardware.</a:t>
            </a:r>
          </a:p>
          <a:p>
            <a:pPr algn="l">
              <a:buFont typeface="Wingdings" panose="05000000000000000000" pitchFamily="2" charset="2"/>
              <a:buChar char="Ø"/>
            </a:pPr>
            <a:r>
              <a:rPr lang="en-US" dirty="0"/>
              <a:t>AWS handles security patches &amp; encryption, reducing breach risk.</a:t>
            </a:r>
          </a:p>
          <a:p>
            <a:pPr algn="l">
              <a:buFont typeface="Wingdings" panose="05000000000000000000" pitchFamily="2" charset="2"/>
              <a:buChar char="Ø"/>
            </a:pPr>
            <a:r>
              <a:rPr lang="en-US" dirty="0"/>
              <a:t> Updates go live in minutes, not days, enabling fast improvements</a:t>
            </a:r>
            <a:endParaRPr lang="en-ZA" dirty="0"/>
          </a:p>
        </p:txBody>
      </p:sp>
      <p:sp>
        <p:nvSpPr>
          <p:cNvPr id="5" name="Date Placeholder 4">
            <a:extLst>
              <a:ext uri="{FF2B5EF4-FFF2-40B4-BE49-F238E27FC236}">
                <a16:creationId xmlns:a16="http://schemas.microsoft.com/office/drawing/2014/main" id="{3D176DC3-B78F-1A37-878A-AE82E2CBC618}"/>
              </a:ext>
            </a:extLst>
          </p:cNvPr>
          <p:cNvSpPr>
            <a:spLocks noGrp="1"/>
          </p:cNvSpPr>
          <p:nvPr>
            <p:ph type="dt" sz="half" idx="10"/>
          </p:nvPr>
        </p:nvSpPr>
        <p:spPr/>
        <p:txBody>
          <a:bodyPr/>
          <a:lstStyle/>
          <a:p>
            <a:fld id="{6C7D0BE9-2C7C-412F-870F-F011609F25E4}" type="datetime1">
              <a:rPr lang="en-ZA" smtClean="0"/>
              <a:t>2025/11/17</a:t>
            </a:fld>
            <a:endParaRPr lang="en-ZA"/>
          </a:p>
        </p:txBody>
      </p:sp>
      <p:sp>
        <p:nvSpPr>
          <p:cNvPr id="6" name="Slide Number Placeholder 5">
            <a:extLst>
              <a:ext uri="{FF2B5EF4-FFF2-40B4-BE49-F238E27FC236}">
                <a16:creationId xmlns:a16="http://schemas.microsoft.com/office/drawing/2014/main" id="{2C51447F-D8BB-6477-2259-89E874121886}"/>
              </a:ext>
            </a:extLst>
          </p:cNvPr>
          <p:cNvSpPr>
            <a:spLocks noGrp="1"/>
          </p:cNvSpPr>
          <p:nvPr>
            <p:ph type="sldNum" sz="quarter" idx="12"/>
          </p:nvPr>
        </p:nvSpPr>
        <p:spPr/>
        <p:txBody>
          <a:bodyPr/>
          <a:lstStyle/>
          <a:p>
            <a:fld id="{15BB2F74-E843-4E4A-AEB2-D2C26A532EC9}" type="slidenum">
              <a:rPr lang="en-ZA" sz="2000" b="1" smtClean="0">
                <a:solidFill>
                  <a:schemeClr val="tx1"/>
                </a:solidFill>
              </a:rPr>
              <a:t>12</a:t>
            </a:fld>
            <a:endParaRPr lang="en-ZA" sz="2000" b="1" dirty="0">
              <a:solidFill>
                <a:schemeClr val="tx1"/>
              </a:solidFill>
            </a:endParaRPr>
          </a:p>
        </p:txBody>
      </p:sp>
    </p:spTree>
    <p:extLst>
      <p:ext uri="{BB962C8B-B14F-4D97-AF65-F5344CB8AC3E}">
        <p14:creationId xmlns:p14="http://schemas.microsoft.com/office/powerpoint/2010/main" val="3207572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5CF1C58-1E65-84E1-9D6A-1B15381EEFD0}"/>
              </a:ext>
            </a:extLst>
          </p:cNvPr>
          <p:cNvSpPr>
            <a:spLocks noGrp="1"/>
          </p:cNvSpPr>
          <p:nvPr>
            <p:ph type="title"/>
          </p:nvPr>
        </p:nvSpPr>
        <p:spPr>
          <a:xfrm>
            <a:off x="2634916" y="842822"/>
            <a:ext cx="7074568" cy="1349811"/>
          </a:xfrm>
        </p:spPr>
        <p:txBody>
          <a:bodyPr vert="horz" lIns="91440" tIns="45720" rIns="91440" bIns="45720" rtlCol="0" anchor="b">
            <a:normAutofit/>
          </a:bodyPr>
          <a:lstStyle/>
          <a:p>
            <a:pPr algn="ctr"/>
            <a:r>
              <a:rPr lang="en-US" sz="6600" b="1" kern="1200" dirty="0">
                <a:solidFill>
                  <a:srgbClr val="FFFFFF"/>
                </a:solidFill>
                <a:latin typeface="+mj-lt"/>
                <a:ea typeface="+mj-ea"/>
                <a:cs typeface="+mj-cs"/>
              </a:rPr>
              <a:t>Q &amp; A!!</a:t>
            </a:r>
          </a:p>
        </p:txBody>
      </p:sp>
      <p:sp>
        <p:nvSpPr>
          <p:cNvPr id="3" name="Text Placeholder 2">
            <a:extLst>
              <a:ext uri="{FF2B5EF4-FFF2-40B4-BE49-F238E27FC236}">
                <a16:creationId xmlns:a16="http://schemas.microsoft.com/office/drawing/2014/main" id="{0216B380-9AFE-5518-93F9-4ADB7F36B313}"/>
              </a:ext>
            </a:extLst>
          </p:cNvPr>
          <p:cNvSpPr>
            <a:spLocks noGrp="1"/>
          </p:cNvSpPr>
          <p:nvPr>
            <p:ph type="body" idx="1"/>
          </p:nvPr>
        </p:nvSpPr>
        <p:spPr>
          <a:xfrm>
            <a:off x="2634916" y="4533813"/>
            <a:ext cx="6930189" cy="938463"/>
          </a:xfrm>
        </p:spPr>
        <p:txBody>
          <a:bodyPr vert="horz" lIns="91440" tIns="45720" rIns="91440" bIns="45720" rtlCol="0">
            <a:normAutofit/>
          </a:bodyPr>
          <a:lstStyle/>
          <a:p>
            <a:pPr algn="ctr"/>
            <a:r>
              <a:rPr lang="en-US" b="1" kern="1200">
                <a:solidFill>
                  <a:srgbClr val="FFFFFF"/>
                </a:solidFill>
                <a:latin typeface="+mn-lt"/>
                <a:ea typeface="+mn-ea"/>
                <a:cs typeface="+mn-cs"/>
              </a:rPr>
              <a:t>Feel free to ask anything about our AWS migration!</a:t>
            </a:r>
          </a:p>
        </p:txBody>
      </p:sp>
      <p:sp>
        <p:nvSpPr>
          <p:cNvPr id="19"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9D10054C-36D3-5CFC-3A40-A0848F5821FD}"/>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399CE4C9-7D41-4273-827F-2EB9F2CB4692}" type="datetime1">
              <a:rPr lang="en-ZA" smtClean="0">
                <a:solidFill>
                  <a:schemeClr val="tx1">
                    <a:tint val="75000"/>
                  </a:schemeClr>
                </a:solidFill>
              </a:rPr>
              <a:t>2025/11/17</a:t>
            </a:fld>
            <a:endParaRPr lang="en-US">
              <a:solidFill>
                <a:schemeClr val="tx1">
                  <a:tint val="75000"/>
                </a:schemeClr>
              </a:solidFill>
            </a:endParaRPr>
          </a:p>
        </p:txBody>
      </p:sp>
      <p:sp>
        <p:nvSpPr>
          <p:cNvPr id="5" name="Slide Number Placeholder 4">
            <a:extLst>
              <a:ext uri="{FF2B5EF4-FFF2-40B4-BE49-F238E27FC236}">
                <a16:creationId xmlns:a16="http://schemas.microsoft.com/office/drawing/2014/main" id="{375194EE-78B7-A778-95AE-719DF2FFD5A1}"/>
              </a:ext>
            </a:extLst>
          </p:cNvPr>
          <p:cNvSpPr>
            <a:spLocks noGrp="1"/>
          </p:cNvSpPr>
          <p:nvPr>
            <p:ph type="sldNum" sz="quarter" idx="12"/>
          </p:nvPr>
        </p:nvSpPr>
        <p:spPr>
          <a:xfrm>
            <a:off x="8610600" y="6356350"/>
            <a:ext cx="2743200" cy="365125"/>
          </a:xfrm>
        </p:spPr>
        <p:txBody>
          <a:bodyPr vert="horz" lIns="91440" tIns="45720" rIns="91440" bIns="45720" rtlCol="0" anchor="ctr">
            <a:noAutofit/>
          </a:bodyPr>
          <a:lstStyle/>
          <a:p>
            <a:pPr>
              <a:spcAft>
                <a:spcPts val="600"/>
              </a:spcAft>
            </a:pPr>
            <a:fld id="{15BB2F74-E843-4E4A-AEB2-D2C26A532EC9}" type="slidenum">
              <a:rPr lang="en-US" sz="2000" b="1" smtClean="0">
                <a:solidFill>
                  <a:schemeClr val="tx1">
                    <a:tint val="75000"/>
                  </a:schemeClr>
                </a:solidFill>
              </a:rPr>
              <a:pPr>
                <a:spcAft>
                  <a:spcPts val="600"/>
                </a:spcAft>
              </a:pPr>
              <a:t>13</a:t>
            </a:fld>
            <a:endParaRPr lang="en-US" sz="2000" b="1" dirty="0">
              <a:solidFill>
                <a:schemeClr val="tx1">
                  <a:tint val="75000"/>
                </a:schemeClr>
              </a:solidFill>
            </a:endParaRPr>
          </a:p>
        </p:txBody>
      </p:sp>
    </p:spTree>
    <p:extLst>
      <p:ext uri="{BB962C8B-B14F-4D97-AF65-F5344CB8AC3E}">
        <p14:creationId xmlns:p14="http://schemas.microsoft.com/office/powerpoint/2010/main" val="3226112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1192</TotalTime>
  <Words>2265</Words>
  <Application>Microsoft Office PowerPoint</Application>
  <PresentationFormat>Widescreen</PresentationFormat>
  <Paragraphs>353</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Calibri</vt:lpstr>
      <vt:lpstr>Cambria Math</vt:lpstr>
      <vt:lpstr>Wingdings</vt:lpstr>
      <vt:lpstr>Office Theme</vt:lpstr>
      <vt:lpstr> @MALLS “Africa's finest roots” </vt:lpstr>
      <vt:lpstr> </vt:lpstr>
      <vt:lpstr> RESTAURANT OVERVIEW:  Current situation</vt:lpstr>
      <vt:lpstr>CHALLENGES:  Before AWS Migration </vt:lpstr>
      <vt:lpstr>Solution: Simple static website with:</vt:lpstr>
      <vt:lpstr>PowerPoint Presentation</vt:lpstr>
      <vt:lpstr>PowerPoint Presentation</vt:lpstr>
      <vt:lpstr>AWS SERVICES:</vt:lpstr>
      <vt:lpstr>Cost Analysis:</vt:lpstr>
      <vt:lpstr>Manual System VS AWS Migration:</vt:lpstr>
      <vt:lpstr>Benefits of Moving to AWS:</vt:lpstr>
      <vt:lpstr>Conclusion: What we learned from moving to AWS as a business: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Mokgadi Selepe</dc:creator>
  <cp:lastModifiedBy>Mokgadi Selepe</cp:lastModifiedBy>
  <cp:revision>96</cp:revision>
  <dcterms:created xsi:type="dcterms:W3CDTF">2025-11-14T14:36:53Z</dcterms:created>
  <dcterms:modified xsi:type="dcterms:W3CDTF">2025-11-17T08:50:59Z</dcterms:modified>
</cp:coreProperties>
</file>